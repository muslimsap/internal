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86" r:id="rId9"/>
    <p:sldId id="287" r:id="rId10"/>
    <p:sldId id="288" r:id="rId11"/>
    <p:sldId id="285" r:id="rId12"/>
    <p:sldId id="266" r:id="rId13"/>
    <p:sldId id="267" r:id="rId14"/>
    <p:sldId id="289" r:id="rId15"/>
    <p:sldId id="276" r:id="rId16"/>
    <p:sldId id="290" r:id="rId17"/>
    <p:sldId id="292" r:id="rId18"/>
    <p:sldId id="293" r:id="rId19"/>
    <p:sldId id="291" r:id="rId20"/>
    <p:sldId id="294" r:id="rId21"/>
    <p:sldId id="295" r:id="rId22"/>
    <p:sldId id="278" r:id="rId23"/>
    <p:sldId id="270" r:id="rId24"/>
    <p:sldId id="269" r:id="rId25"/>
    <p:sldId id="296" r:id="rId26"/>
    <p:sldId id="303" r:id="rId27"/>
    <p:sldId id="298" r:id="rId28"/>
    <p:sldId id="299" r:id="rId29"/>
    <p:sldId id="300" r:id="rId30"/>
    <p:sldId id="297" r:id="rId31"/>
    <p:sldId id="271" r:id="rId32"/>
    <p:sldId id="301" r:id="rId33"/>
    <p:sldId id="302" r:id="rId34"/>
    <p:sldId id="304" r:id="rId35"/>
    <p:sldId id="273" r:id="rId36"/>
    <p:sldId id="274" r:id="rId37"/>
    <p:sldId id="279" r:id="rId38"/>
    <p:sldId id="280" r:id="rId39"/>
    <p:sldId id="281" r:id="rId40"/>
    <p:sldId id="282" r:id="rId41"/>
    <p:sldId id="305" r:id="rId42"/>
    <p:sldId id="28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5A40"/>
    <a:srgbClr val="FF6B4C"/>
    <a:srgbClr val="60F099"/>
    <a:srgbClr val="FFCABF"/>
    <a:srgbClr val="BEE8CE"/>
    <a:srgbClr val="D3E8DB"/>
    <a:srgbClr val="45E881"/>
    <a:srgbClr val="51C980"/>
    <a:srgbClr val="38B470"/>
    <a:srgbClr val="0149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BEE0E7-6C3A-4B31-9B7A-77095E8A9E06}" v="101" dt="2026-01-23T21:27:20.419"/>
    <p1510:client id="{386E59F0-7628-4151-9DB5-7BA1332ED1B1}" v="677" dt="2026-01-23T16:09:21.057"/>
    <p1510:client id="{694749DA-B021-4E04-AE46-0AE436F5C523}" v="178" dt="2026-01-23T00:28:05.927"/>
    <p1510:client id="{6BC54563-810E-474A-AE99-6947970B638C}" v="275" dt="2026-01-23T00:15:25.640"/>
    <p1510:client id="{95D6AAE2-E33F-4319-BCE6-691EAA4C6C03}" v="115" dt="2026-01-23T19:07:07.077"/>
    <p1510:client id="{B61B7432-6FB8-4C6C-8B06-E25AB0CFFAB9}" v="755" dt="2026-01-23T14:26:55.618"/>
    <p1510:client id="{D43FCBA6-8C20-47FC-8BF0-50B57AF4E87C}" v="359" dt="2026-01-23T20:09:46.4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logo with a leaf and crescent moon&#10;&#10;AI-generated content may be incorrect.">
            <a:extLst>
              <a:ext uri="{FF2B5EF4-FFF2-40B4-BE49-F238E27FC236}">
                <a16:creationId xmlns:a16="http://schemas.microsoft.com/office/drawing/2014/main" id="{74535BFE-8C8B-329B-3E81-A4E239654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931085-62E5-18B5-B6E6-69C5EC50B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F45B1FF1-5279-F565-FA3D-1BADCFC4A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D4B292-1319-6440-9CC2-ADFD9675BBEE}"/>
              </a:ext>
            </a:extLst>
          </p:cNvPr>
          <p:cNvSpPr txBox="1"/>
          <p:nvPr/>
        </p:nvSpPr>
        <p:spPr>
          <a:xfrm>
            <a:off x="2497888" y="2828355"/>
            <a:ext cx="740660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2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Intro &amp; First Steps</a:t>
            </a:r>
          </a:p>
        </p:txBody>
      </p:sp>
    </p:spTree>
    <p:extLst>
      <p:ext uri="{BB962C8B-B14F-4D97-AF65-F5344CB8AC3E}">
        <p14:creationId xmlns:p14="http://schemas.microsoft.com/office/powerpoint/2010/main" val="150407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C8EDF-13CB-3FA0-FFB8-FCD7B335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338BC4-9F7D-D8D7-EB91-805E5A77FC16}"/>
              </a:ext>
            </a:extLst>
          </p:cNvPr>
          <p:cNvSpPr txBox="1"/>
          <p:nvPr/>
        </p:nvSpPr>
        <p:spPr>
          <a:xfrm>
            <a:off x="399778" y="531917"/>
            <a:ext cx="503710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Intro &amp; First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F4EF1-B72D-7A02-9B2D-44ACD6B0CE6F}"/>
              </a:ext>
            </a:extLst>
          </p:cNvPr>
          <p:cNvSpPr txBox="1"/>
          <p:nvPr/>
        </p:nvSpPr>
        <p:spPr>
          <a:xfrm>
            <a:off x="2216052" y="2828355"/>
            <a:ext cx="740660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b="1">
                <a:solidFill>
                  <a:srgbClr val="45E881"/>
                </a:solidFill>
                <a:latin typeface="Candara"/>
                <a:ea typeface="Calibri"/>
                <a:cs typeface="Calibri"/>
              </a:rPr>
              <a:t>Who are we?</a:t>
            </a:r>
            <a:endParaRPr lang="en-US"/>
          </a:p>
        </p:txBody>
      </p:sp>
      <p:pic>
        <p:nvPicPr>
          <p:cNvPr id="6" name="Picture 5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659FF9A9-D662-EEB4-BF3A-70A45FCE0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69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494F4-D9B2-1886-319D-A5663EC1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73AB7D-4528-54E4-B4A7-095B24846C89}"/>
              </a:ext>
            </a:extLst>
          </p:cNvPr>
          <p:cNvSpPr txBox="1"/>
          <p:nvPr/>
        </p:nvSpPr>
        <p:spPr>
          <a:xfrm>
            <a:off x="399778" y="531917"/>
            <a:ext cx="503710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Intro &amp; First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BCE29-9E1E-2191-5BBD-79A61C989E6A}"/>
              </a:ext>
            </a:extLst>
          </p:cNvPr>
          <p:cNvSpPr txBox="1"/>
          <p:nvPr/>
        </p:nvSpPr>
        <p:spPr>
          <a:xfrm>
            <a:off x="4564682" y="2556958"/>
            <a:ext cx="306425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>
                <a:solidFill>
                  <a:srgbClr val="45E881"/>
                </a:solidFill>
                <a:latin typeface="Candara"/>
                <a:ea typeface="Calibri"/>
                <a:cs typeface="Calibri"/>
              </a:rPr>
              <a:t>Group of Muslims</a:t>
            </a:r>
            <a:endParaRPr lang="en-US" sz="3600" b="1">
              <a:solidFill>
                <a:srgbClr val="45E881"/>
              </a:solidFill>
              <a:latin typeface="Candara"/>
              <a:ea typeface="Calibri"/>
              <a:cs typeface="Calibri"/>
            </a:endParaRPr>
          </a:p>
        </p:txBody>
      </p:sp>
      <p:pic>
        <p:nvPicPr>
          <p:cNvPr id="6" name="Picture 5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45B1761D-FA66-FB37-C40B-6F55C87B6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6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173A7-032D-3ECE-21C4-60DA165D3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107093-67F2-0F50-E84F-EA487D572D87}"/>
              </a:ext>
            </a:extLst>
          </p:cNvPr>
          <p:cNvSpPr txBox="1"/>
          <p:nvPr/>
        </p:nvSpPr>
        <p:spPr>
          <a:xfrm>
            <a:off x="399778" y="531917"/>
            <a:ext cx="503710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Intro &amp; First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73C52-7FCA-4319-59F3-E2F4F585614C}"/>
              </a:ext>
            </a:extLst>
          </p:cNvPr>
          <p:cNvSpPr txBox="1"/>
          <p:nvPr/>
        </p:nvSpPr>
        <p:spPr>
          <a:xfrm>
            <a:off x="914930" y="2726291"/>
            <a:ext cx="306425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>
                <a:solidFill>
                  <a:srgbClr val="45E881"/>
                </a:solidFill>
                <a:latin typeface="Candara"/>
                <a:ea typeface="Calibri"/>
                <a:cs typeface="Calibri"/>
              </a:rPr>
              <a:t>Group of Muslims</a:t>
            </a:r>
            <a:endParaRPr lang="en-US" sz="3600" b="1">
              <a:solidFill>
                <a:srgbClr val="45E881"/>
              </a:solidFill>
              <a:latin typeface="Candara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E8D8E8-8992-5A5D-FEDD-21148B9D2D11}"/>
              </a:ext>
            </a:extLst>
          </p:cNvPr>
          <p:cNvSpPr txBox="1"/>
          <p:nvPr/>
        </p:nvSpPr>
        <p:spPr>
          <a:xfrm>
            <a:off x="4387229" y="2755287"/>
            <a:ext cx="306425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Unite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5C282DD-163B-18EB-E35A-FC78C3982D7F}"/>
              </a:ext>
            </a:extLst>
          </p:cNvPr>
          <p:cNvSpPr/>
          <p:nvPr/>
        </p:nvSpPr>
        <p:spPr>
          <a:xfrm>
            <a:off x="4686073" y="3557671"/>
            <a:ext cx="2478578" cy="25380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8AC132-8053-2356-71F6-A1AA5D1891F9}"/>
              </a:ext>
            </a:extLst>
          </p:cNvPr>
          <p:cNvSpPr txBox="1"/>
          <p:nvPr/>
        </p:nvSpPr>
        <p:spPr>
          <a:xfrm>
            <a:off x="7462485" y="3220180"/>
            <a:ext cx="447536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Pornography</a:t>
            </a:r>
            <a:endParaRPr lang="en-US" sz="1400">
              <a:solidFill>
                <a:srgbClr val="FF6B4C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E0A92D-C451-8D4A-3421-F0CAAB82772C}"/>
              </a:ext>
            </a:extLst>
          </p:cNvPr>
          <p:cNvSpPr txBox="1"/>
          <p:nvPr/>
        </p:nvSpPr>
        <p:spPr>
          <a:xfrm>
            <a:off x="4401340" y="3686620"/>
            <a:ext cx="306425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against</a:t>
            </a:r>
            <a:endParaRPr lang="en-US"/>
          </a:p>
        </p:txBody>
      </p:sp>
      <p:pic>
        <p:nvPicPr>
          <p:cNvPr id="7" name="Picture 6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9C9B7758-04D6-853E-1D9C-1CB093610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87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5620E7-7516-B6EC-5304-5982D39F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4B4C4A-7941-0DA8-FF91-D97C6D224990}"/>
              </a:ext>
            </a:extLst>
          </p:cNvPr>
          <p:cNvSpPr txBox="1"/>
          <p:nvPr/>
        </p:nvSpPr>
        <p:spPr>
          <a:xfrm>
            <a:off x="399778" y="531917"/>
            <a:ext cx="503710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Intro &amp; First Steps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4E40C0-692B-780A-8298-C168DA70F52C}"/>
              </a:ext>
            </a:extLst>
          </p:cNvPr>
          <p:cNvSpPr txBox="1"/>
          <p:nvPr/>
        </p:nvSpPr>
        <p:spPr>
          <a:xfrm>
            <a:off x="301772" y="3140808"/>
            <a:ext cx="447536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Pornography</a:t>
            </a:r>
            <a:endParaRPr lang="en-US" sz="4000">
              <a:solidFill>
                <a:srgbClr val="FF6B4C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8CB49C-E2F2-267F-D2DC-4F97ED96EFB0}"/>
              </a:ext>
            </a:extLst>
          </p:cNvPr>
          <p:cNvSpPr txBox="1"/>
          <p:nvPr/>
        </p:nvSpPr>
        <p:spPr>
          <a:xfrm>
            <a:off x="3605216" y="3000973"/>
            <a:ext cx="447536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Destroying</a:t>
            </a:r>
            <a:endParaRPr lang="en-US" sz="900">
              <a:solidFill>
                <a:srgbClr val="FF6B4C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4D024E0-EEB3-C385-D19E-9C4BCF5A9E5F}"/>
              </a:ext>
            </a:extLst>
          </p:cNvPr>
          <p:cNvSpPr/>
          <p:nvPr/>
        </p:nvSpPr>
        <p:spPr>
          <a:xfrm>
            <a:off x="4607490" y="3599424"/>
            <a:ext cx="2478578" cy="253805"/>
          </a:xfrm>
          <a:prstGeom prst="rightArrow">
            <a:avLst/>
          </a:prstGeom>
          <a:solidFill>
            <a:srgbClr val="FF6B4C"/>
          </a:solidFill>
          <a:ln>
            <a:solidFill>
              <a:srgbClr val="FF6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C6D23-E053-A2F4-6ED2-9DA63FA63ED1}"/>
              </a:ext>
            </a:extLst>
          </p:cNvPr>
          <p:cNvSpPr txBox="1"/>
          <p:nvPr/>
        </p:nvSpPr>
        <p:spPr>
          <a:xfrm>
            <a:off x="7385870" y="3095617"/>
            <a:ext cx="447536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The Ummah</a:t>
            </a:r>
            <a:endParaRPr lang="en-US" sz="6000">
              <a:solidFill>
                <a:schemeClr val="bg1"/>
              </a:solidFill>
            </a:endParaRPr>
          </a:p>
        </p:txBody>
      </p:sp>
      <p:pic>
        <p:nvPicPr>
          <p:cNvPr id="16" name="Graphic 15" descr="Skull with solid fill">
            <a:extLst>
              <a:ext uri="{FF2B5EF4-FFF2-40B4-BE49-F238E27FC236}">
                <a16:creationId xmlns:a16="http://schemas.microsoft.com/office/drawing/2014/main" id="{A23779E1-D263-55C7-E582-DFCF873983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0008" y="2209800"/>
            <a:ext cx="914400" cy="914400"/>
          </a:xfrm>
          <a:prstGeom prst="rect">
            <a:avLst/>
          </a:prstGeom>
        </p:spPr>
      </p:pic>
      <p:pic>
        <p:nvPicPr>
          <p:cNvPr id="5" name="Picture 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79F20002-4C01-8B10-F331-10AFB7679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10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6EB82-FA2D-4629-2663-883D35F4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C01213-834A-CD48-F788-30CFF907792A}"/>
              </a:ext>
            </a:extLst>
          </p:cNvPr>
          <p:cNvSpPr txBox="1"/>
          <p:nvPr/>
        </p:nvSpPr>
        <p:spPr>
          <a:xfrm>
            <a:off x="399778" y="531917"/>
            <a:ext cx="546076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Key defense groups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9324A7DD-9B10-E0D5-70E4-F816DE582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2B12DE-759A-84DA-0A94-0A3F7C10C4DA}"/>
              </a:ext>
            </a:extLst>
          </p:cNvPr>
          <p:cNvSpPr txBox="1"/>
          <p:nvPr/>
        </p:nvSpPr>
        <p:spPr>
          <a:xfrm>
            <a:off x="4398359" y="2629529"/>
            <a:ext cx="3390826" cy="15938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600" b="1">
                <a:solidFill>
                  <a:srgbClr val="45E881"/>
                </a:solidFill>
                <a:latin typeface="Candara"/>
                <a:ea typeface="Calibri"/>
                <a:cs typeface="Calibri"/>
              </a:rPr>
              <a:t>3</a:t>
            </a:r>
            <a:endParaRPr lang="en-US" sz="9600"/>
          </a:p>
        </p:txBody>
      </p:sp>
    </p:spTree>
    <p:extLst>
      <p:ext uri="{BB962C8B-B14F-4D97-AF65-F5344CB8AC3E}">
        <p14:creationId xmlns:p14="http://schemas.microsoft.com/office/powerpoint/2010/main" val="562237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DFB6F-30EA-B738-6B97-9AB88F710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3B4355-3C11-E7C2-667E-6A299295093D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Key defense groups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40D90A-B0DB-6E88-F462-5AFDB58CDAB5}"/>
              </a:ext>
            </a:extLst>
          </p:cNvPr>
          <p:cNvSpPr txBox="1"/>
          <p:nvPr/>
        </p:nvSpPr>
        <p:spPr>
          <a:xfrm>
            <a:off x="4603928" y="4278399"/>
            <a:ext cx="26675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Therapists</a:t>
            </a:r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D0ECCBB1-4458-373E-79F8-E0D2683A2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2" name="Picture 1" descr="A person with a red and white cross&#10;&#10;AI-generated content may be incorrect.">
            <a:extLst>
              <a:ext uri="{FF2B5EF4-FFF2-40B4-BE49-F238E27FC236}">
                <a16:creationId xmlns:a16="http://schemas.microsoft.com/office/drawing/2014/main" id="{70D0F778-FB45-BF97-ED6F-6B8417EB9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931" y="2046809"/>
            <a:ext cx="2075937" cy="209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41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39C65-C49E-82CF-77B8-D2F15C210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B64329-83DF-D565-16FA-32B70BB8CBD9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Key defense groups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2DC169-F98A-52A3-BCFF-247AC61B518A}"/>
              </a:ext>
            </a:extLst>
          </p:cNvPr>
          <p:cNvSpPr txBox="1"/>
          <p:nvPr/>
        </p:nvSpPr>
        <p:spPr>
          <a:xfrm>
            <a:off x="1151837" y="4278399"/>
            <a:ext cx="26675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Therapists</a:t>
            </a:r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9" name="Picture 8" descr="A person with a beard and turban&#10;&#10;AI-generated content may be incorrect.">
            <a:extLst>
              <a:ext uri="{FF2B5EF4-FFF2-40B4-BE49-F238E27FC236}">
                <a16:creationId xmlns:a16="http://schemas.microsoft.com/office/drawing/2014/main" id="{C9AA2469-1A3E-BB79-0A31-BDDD2D49A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618" y="2012672"/>
            <a:ext cx="2225458" cy="22672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84B570-6320-C677-AFAE-9F7E42818930}"/>
              </a:ext>
            </a:extLst>
          </p:cNvPr>
          <p:cNvSpPr txBox="1"/>
          <p:nvPr/>
        </p:nvSpPr>
        <p:spPr>
          <a:xfrm>
            <a:off x="8260356" y="4278398"/>
            <a:ext cx="26675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Sheikhs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BBAAF9FE-5143-A666-AE6F-0B0DD708A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2" name="Picture 1" descr="A person with a red and white cross&#10;&#10;AI-generated content may be incorrect.">
            <a:extLst>
              <a:ext uri="{FF2B5EF4-FFF2-40B4-BE49-F238E27FC236}">
                <a16:creationId xmlns:a16="http://schemas.microsoft.com/office/drawing/2014/main" id="{E4A13383-BEF3-1D87-9FFE-6FDE60CEB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840" y="2046809"/>
            <a:ext cx="2075937" cy="209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59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C018A-804C-3E33-053F-AF0A603EC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64DF4D-21BA-1EC6-C91B-9611A1C439E3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Key defense groups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9B65E-27E7-65A4-0E79-436A21BBD938}"/>
              </a:ext>
            </a:extLst>
          </p:cNvPr>
          <p:cNvSpPr txBox="1"/>
          <p:nvPr/>
        </p:nvSpPr>
        <p:spPr>
          <a:xfrm>
            <a:off x="1151837" y="4278399"/>
            <a:ext cx="26675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Therapists</a:t>
            </a:r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9" name="Picture 8" descr="A person with a beard and turban&#10;&#10;AI-generated content may be incorrect.">
            <a:extLst>
              <a:ext uri="{FF2B5EF4-FFF2-40B4-BE49-F238E27FC236}">
                <a16:creationId xmlns:a16="http://schemas.microsoft.com/office/drawing/2014/main" id="{67EA7DCE-6655-5CDA-BA0C-E0FE3CB38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618" y="2012672"/>
            <a:ext cx="2225458" cy="22672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2D6AE0-20C5-C24D-CDE3-8BF89D4CEF44}"/>
              </a:ext>
            </a:extLst>
          </p:cNvPr>
          <p:cNvSpPr txBox="1"/>
          <p:nvPr/>
        </p:nvSpPr>
        <p:spPr>
          <a:xfrm>
            <a:off x="8260356" y="4278398"/>
            <a:ext cx="26675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Sheikhs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6BBDB5AF-CC98-31DA-D5FB-428AF2661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2" name="Picture 1" descr="A person with a red and white cross&#10;&#10;AI-generated content may be incorrect.">
            <a:extLst>
              <a:ext uri="{FF2B5EF4-FFF2-40B4-BE49-F238E27FC236}">
                <a16:creationId xmlns:a16="http://schemas.microsoft.com/office/drawing/2014/main" id="{E825F3DC-B252-6477-3BEE-7788051C1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840" y="2046809"/>
            <a:ext cx="2075937" cy="2096530"/>
          </a:xfrm>
          <a:prstGeom prst="rect">
            <a:avLst/>
          </a:prstGeom>
        </p:spPr>
      </p:pic>
      <p:pic>
        <p:nvPicPr>
          <p:cNvPr id="5" name="Picture 4" descr="A group of people in circles&#10;&#10;AI-generated content may be incorrect.">
            <a:extLst>
              <a:ext uri="{FF2B5EF4-FFF2-40B4-BE49-F238E27FC236}">
                <a16:creationId xmlns:a16="http://schemas.microsoft.com/office/drawing/2014/main" id="{3BD6E3B0-E2A4-396B-1E39-0FA9C9A71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217" y="1908288"/>
            <a:ext cx="2402910" cy="23715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7F1853-1DA9-FBAF-5476-9F6CEE636421}"/>
              </a:ext>
            </a:extLst>
          </p:cNvPr>
          <p:cNvSpPr txBox="1"/>
          <p:nvPr/>
        </p:nvSpPr>
        <p:spPr>
          <a:xfrm>
            <a:off x="4746901" y="4278398"/>
            <a:ext cx="26675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Peer-to-peer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436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684A4A-3018-BEC0-E2FD-4C3631F1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B96448-967E-F23C-C1E8-3088CD22A38D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Key defense groups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986445-9DCE-E6A1-9A63-768331266A35}"/>
              </a:ext>
            </a:extLst>
          </p:cNvPr>
          <p:cNvSpPr txBox="1"/>
          <p:nvPr/>
        </p:nvSpPr>
        <p:spPr>
          <a:xfrm>
            <a:off x="482201" y="4278399"/>
            <a:ext cx="26675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Therapists</a:t>
            </a:r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9" name="Picture 8" descr="A person with a beard and turban&#10;&#10;AI-generated content may be incorrect.">
            <a:extLst>
              <a:ext uri="{FF2B5EF4-FFF2-40B4-BE49-F238E27FC236}">
                <a16:creationId xmlns:a16="http://schemas.microsoft.com/office/drawing/2014/main" id="{2A2F42F1-216A-0127-093F-31B9ED09F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891" y="2012672"/>
            <a:ext cx="2225458" cy="22672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0EFAD2-F6C2-92BD-2C97-B4A57727515B}"/>
              </a:ext>
            </a:extLst>
          </p:cNvPr>
          <p:cNvSpPr txBox="1"/>
          <p:nvPr/>
        </p:nvSpPr>
        <p:spPr>
          <a:xfrm>
            <a:off x="9218629" y="4278398"/>
            <a:ext cx="26675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Sheikhs</a:t>
            </a:r>
            <a:endParaRPr lang="en-US"/>
          </a:p>
        </p:txBody>
      </p:sp>
      <p:pic>
        <p:nvPicPr>
          <p:cNvPr id="12" name="Picture 11" descr="A group of people in circles&#10;&#10;AI-generated content may be incorrect.">
            <a:extLst>
              <a:ext uri="{FF2B5EF4-FFF2-40B4-BE49-F238E27FC236}">
                <a16:creationId xmlns:a16="http://schemas.microsoft.com/office/drawing/2014/main" id="{E3E6AE14-886E-EA7A-5728-7462AC8FA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399" y="1908288"/>
            <a:ext cx="2402910" cy="23715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9662FA-2176-7D8E-413E-AF8E8AEA4F08}"/>
              </a:ext>
            </a:extLst>
          </p:cNvPr>
          <p:cNvSpPr txBox="1"/>
          <p:nvPr/>
        </p:nvSpPr>
        <p:spPr>
          <a:xfrm>
            <a:off x="4920083" y="4278398"/>
            <a:ext cx="26675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Peer-to-peer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ADCC0651-ED90-83D9-A850-7A6D4044E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2" name="Picture 1" descr="A person with a red and white cross&#10;&#10;AI-generated content may be incorrect.">
            <a:extLst>
              <a:ext uri="{FF2B5EF4-FFF2-40B4-BE49-F238E27FC236}">
                <a16:creationId xmlns:a16="http://schemas.microsoft.com/office/drawing/2014/main" id="{0BC98DE6-6FE6-F48D-A4F7-A589429E3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04" y="2046809"/>
            <a:ext cx="2075937" cy="2096530"/>
          </a:xfrm>
          <a:prstGeom prst="rect">
            <a:avLst/>
          </a:prstGeom>
        </p:spPr>
      </p:pic>
      <p:sp>
        <p:nvSpPr>
          <p:cNvPr id="4" name="Arrow: Up-Down 3">
            <a:extLst>
              <a:ext uri="{FF2B5EF4-FFF2-40B4-BE49-F238E27FC236}">
                <a16:creationId xmlns:a16="http://schemas.microsoft.com/office/drawing/2014/main" id="{B4849CE1-C199-48BA-C131-F3E00A0673B4}"/>
              </a:ext>
            </a:extLst>
          </p:cNvPr>
          <p:cNvSpPr/>
          <p:nvPr/>
        </p:nvSpPr>
        <p:spPr>
          <a:xfrm rot="5400000">
            <a:off x="3621179" y="2477288"/>
            <a:ext cx="353841" cy="1915098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Up-Down 4">
            <a:extLst>
              <a:ext uri="{FF2B5EF4-FFF2-40B4-BE49-F238E27FC236}">
                <a16:creationId xmlns:a16="http://schemas.microsoft.com/office/drawing/2014/main" id="{8A24D8F2-6B18-F42C-1FAA-A20D7E710DAD}"/>
              </a:ext>
            </a:extLst>
          </p:cNvPr>
          <p:cNvSpPr/>
          <p:nvPr/>
        </p:nvSpPr>
        <p:spPr>
          <a:xfrm rot="5400000">
            <a:off x="8377906" y="2477288"/>
            <a:ext cx="353841" cy="1915098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943F38-5D65-A53B-F22A-DFADE1861266}"/>
              </a:ext>
            </a:extLst>
          </p:cNvPr>
          <p:cNvSpPr txBox="1"/>
          <p:nvPr/>
        </p:nvSpPr>
        <p:spPr>
          <a:xfrm>
            <a:off x="2460900" y="2789034"/>
            <a:ext cx="266759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gap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601C1B-9D41-5706-3508-7EC2BD6614B5}"/>
              </a:ext>
            </a:extLst>
          </p:cNvPr>
          <p:cNvSpPr txBox="1"/>
          <p:nvPr/>
        </p:nvSpPr>
        <p:spPr>
          <a:xfrm>
            <a:off x="7206081" y="2789033"/>
            <a:ext cx="266759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gap</a:t>
            </a:r>
            <a:endParaRPr lang="en-U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20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A39F1-E90A-7174-EFB4-94FBEA48C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DF39F50-72EB-8C68-9AB1-DC33C5754786}"/>
              </a:ext>
            </a:extLst>
          </p:cNvPr>
          <p:cNvSpPr/>
          <p:nvPr/>
        </p:nvSpPr>
        <p:spPr>
          <a:xfrm>
            <a:off x="4017616" y="2204087"/>
            <a:ext cx="3641305" cy="2793216"/>
          </a:xfrm>
          <a:prstGeom prst="triangl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0D112-E5C0-728C-B63A-5779B56C1FBC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Key defense groups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 descr="A person with a beard and turban&#10;&#10;AI-generated content may be incorrect.">
            <a:extLst>
              <a:ext uri="{FF2B5EF4-FFF2-40B4-BE49-F238E27FC236}">
                <a16:creationId xmlns:a16="http://schemas.microsoft.com/office/drawing/2014/main" id="{58FE470D-FB86-AB0D-C29B-86DC2C47B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838" y="3932382"/>
            <a:ext cx="1360485" cy="1391941"/>
          </a:xfrm>
          <a:prstGeom prst="rect">
            <a:avLst/>
          </a:prstGeom>
        </p:spPr>
      </p:pic>
      <p:pic>
        <p:nvPicPr>
          <p:cNvPr id="12" name="Picture 11" descr="A group of people in circles&#10;&#10;AI-generated content may be incorrect.">
            <a:extLst>
              <a:ext uri="{FF2B5EF4-FFF2-40B4-BE49-F238E27FC236}">
                <a16:creationId xmlns:a16="http://schemas.microsoft.com/office/drawing/2014/main" id="{C419DBCF-F5BE-6CE6-C680-9D77E2AB6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592" y="1634674"/>
            <a:ext cx="1610019" cy="1691974"/>
          </a:xfrm>
          <a:prstGeom prst="rect">
            <a:avLst/>
          </a:prstGeom>
        </p:spPr>
      </p:pic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649E8798-2027-49D3-3E41-957B12E1C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2" name="Picture 1" descr="A person with a red and white cross&#10;&#10;AI-generated content may be incorrect.">
            <a:extLst>
              <a:ext uri="{FF2B5EF4-FFF2-40B4-BE49-F238E27FC236}">
                <a16:creationId xmlns:a16="http://schemas.microsoft.com/office/drawing/2014/main" id="{DC9546D7-1D19-CB5A-775D-3F38F1B59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8194" y="3842952"/>
            <a:ext cx="1355127" cy="147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758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0C545-F874-089B-6D3D-7EC499F0F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73F5ED-944C-32B3-2831-79A925C59424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Approach</a:t>
            </a: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0FE69AAA-92EF-252C-93D9-97785A064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4" name="Picture 3" descr="A green leaf on a crescent moon&#10;&#10;AI-generated content may be incorrect.">
            <a:extLst>
              <a:ext uri="{FF2B5EF4-FFF2-40B4-BE49-F238E27FC236}">
                <a16:creationId xmlns:a16="http://schemas.microsoft.com/office/drawing/2014/main" id="{8D891FC8-8EF8-5926-6C6F-ED61F17A6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557" y="1304795"/>
            <a:ext cx="3903946" cy="381000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BDF7A94-BE94-60F3-0102-12438BDA4D11}"/>
              </a:ext>
            </a:extLst>
          </p:cNvPr>
          <p:cNvSpPr/>
          <p:nvPr/>
        </p:nvSpPr>
        <p:spPr>
          <a:xfrm>
            <a:off x="4693511" y="1586908"/>
            <a:ext cx="3264725" cy="3238611"/>
          </a:xfrm>
          <a:prstGeom prst="ellipse">
            <a:avLst/>
          </a:prstGeom>
          <a:noFill/>
          <a:ln w="57150">
            <a:solidFill>
              <a:srgbClr val="45E8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C8A6B-0973-12D9-E546-EF9CB35C4E27}"/>
              </a:ext>
            </a:extLst>
          </p:cNvPr>
          <p:cNvSpPr txBox="1"/>
          <p:nvPr/>
        </p:nvSpPr>
        <p:spPr>
          <a:xfrm>
            <a:off x="3844434" y="4947341"/>
            <a:ext cx="5318938" cy="70788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Right </a:t>
            </a:r>
            <a:r>
              <a:rPr lang="en-US" sz="40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Muslim</a:t>
            </a:r>
            <a:r>
              <a:rPr lang="en-US" sz="40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 approach</a:t>
            </a:r>
          </a:p>
        </p:txBody>
      </p:sp>
    </p:spTree>
    <p:extLst>
      <p:ext uri="{BB962C8B-B14F-4D97-AF65-F5344CB8AC3E}">
        <p14:creationId xmlns:p14="http://schemas.microsoft.com/office/powerpoint/2010/main" val="1995080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F8EE6-646D-BA94-226C-D582DE097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5E0C2F-3797-A321-CB2F-C71D11A2A5B7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Approach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18FCAEA7-200E-C128-9ED4-ECDFC8EC3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4" name="Picture 3" descr="A green leaf on a crescent moon&#10;&#10;AI-generated content may be incorrect.">
            <a:extLst>
              <a:ext uri="{FF2B5EF4-FFF2-40B4-BE49-F238E27FC236}">
                <a16:creationId xmlns:a16="http://schemas.microsoft.com/office/drawing/2014/main" id="{85D3FDFC-1706-E77E-9BA9-3A7A5C9AF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85" y="1587824"/>
            <a:ext cx="1117204" cy="109945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7ECF7E8-2762-1F00-3090-80886ADE13D8}"/>
              </a:ext>
            </a:extLst>
          </p:cNvPr>
          <p:cNvSpPr/>
          <p:nvPr/>
        </p:nvSpPr>
        <p:spPr>
          <a:xfrm>
            <a:off x="2440168" y="1673994"/>
            <a:ext cx="935183" cy="930840"/>
          </a:xfrm>
          <a:prstGeom prst="ellipse">
            <a:avLst/>
          </a:prstGeom>
          <a:noFill/>
          <a:ln w="28575">
            <a:solidFill>
              <a:srgbClr val="45E8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454C8-03E0-1C34-3244-BE0A144124B4}"/>
              </a:ext>
            </a:extLst>
          </p:cNvPr>
          <p:cNvSpPr txBox="1"/>
          <p:nvPr/>
        </p:nvSpPr>
        <p:spPr>
          <a:xfrm>
            <a:off x="241263" y="2683113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Right </a:t>
            </a:r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Muslim</a:t>
            </a:r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 approach</a:t>
            </a:r>
            <a:endParaRPr lang="en-US" sz="32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DB3DD4-B1B0-5103-ADE6-36CD65B86BF3}"/>
              </a:ext>
            </a:extLst>
          </p:cNvPr>
          <p:cNvSpPr/>
          <p:nvPr/>
        </p:nvSpPr>
        <p:spPr>
          <a:xfrm>
            <a:off x="5702740" y="2814784"/>
            <a:ext cx="58364" cy="2809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72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E75852-050E-202F-E5BF-9FCC25486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D06D20-4501-3D75-1516-76AD9DE8D7F0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Approach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2D7F47F5-F901-2AF7-5298-E031EF214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4" name="Picture 3" descr="A green leaf on a crescent moon&#10;&#10;AI-generated content may be incorrect.">
            <a:extLst>
              <a:ext uri="{FF2B5EF4-FFF2-40B4-BE49-F238E27FC236}">
                <a16:creationId xmlns:a16="http://schemas.microsoft.com/office/drawing/2014/main" id="{4267062F-1B2E-C8CF-44E9-F1D3B73F5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85" y="1587824"/>
            <a:ext cx="1117204" cy="109945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9F31465-DEA3-EA5B-E237-C1CB32467ED6}"/>
              </a:ext>
            </a:extLst>
          </p:cNvPr>
          <p:cNvSpPr/>
          <p:nvPr/>
        </p:nvSpPr>
        <p:spPr>
          <a:xfrm>
            <a:off x="2440168" y="1673994"/>
            <a:ext cx="935183" cy="930840"/>
          </a:xfrm>
          <a:prstGeom prst="ellipse">
            <a:avLst/>
          </a:prstGeom>
          <a:noFill/>
          <a:ln w="28575">
            <a:solidFill>
              <a:srgbClr val="45E8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1E33D-40D6-6B69-FBBA-79C1344A771B}"/>
              </a:ext>
            </a:extLst>
          </p:cNvPr>
          <p:cNvSpPr txBox="1"/>
          <p:nvPr/>
        </p:nvSpPr>
        <p:spPr>
          <a:xfrm>
            <a:off x="241263" y="2683113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Right </a:t>
            </a:r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Muslim</a:t>
            </a:r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 approach</a:t>
            </a:r>
            <a:endParaRPr lang="en-US" sz="3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B18688-5E25-B8B1-934E-D41247A4DA2E}"/>
              </a:ext>
            </a:extLst>
          </p:cNvPr>
          <p:cNvSpPr/>
          <p:nvPr/>
        </p:nvSpPr>
        <p:spPr>
          <a:xfrm>
            <a:off x="8068082" y="1761079"/>
            <a:ext cx="935183" cy="930840"/>
          </a:xfrm>
          <a:prstGeom prst="ellipse">
            <a:avLst/>
          </a:prstGeom>
          <a:noFill/>
          <a:ln w="28575">
            <a:solidFill>
              <a:srgbClr val="FF6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F24FC0A7-23FA-3032-2488-099371481A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5171" y="1861457"/>
            <a:ext cx="750425" cy="750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B5554E-1E5A-750F-F14B-008CA3BEEC23}"/>
              </a:ext>
            </a:extLst>
          </p:cNvPr>
          <p:cNvSpPr txBox="1"/>
          <p:nvPr/>
        </p:nvSpPr>
        <p:spPr>
          <a:xfrm>
            <a:off x="5874275" y="2683112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Wrong Muslim approach</a:t>
            </a:r>
            <a:endParaRPr lang="en-US" sz="3200">
              <a:solidFill>
                <a:srgbClr val="FF6B4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8DC7CE-BF3D-2989-90DC-621565B49AF1}"/>
              </a:ext>
            </a:extLst>
          </p:cNvPr>
          <p:cNvSpPr/>
          <p:nvPr/>
        </p:nvSpPr>
        <p:spPr>
          <a:xfrm>
            <a:off x="5702740" y="2814784"/>
            <a:ext cx="58364" cy="2809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62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EB0F6-8AEF-3124-F66B-4A5D867AB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DFD245-B912-6E83-E9AC-6125A0D1CA68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Approach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BB8A9371-028D-9412-7F2C-C45B049FA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4" name="Picture 3" descr="A green leaf on a crescent moon&#10;&#10;AI-generated content may be incorrect.">
            <a:extLst>
              <a:ext uri="{FF2B5EF4-FFF2-40B4-BE49-F238E27FC236}">
                <a16:creationId xmlns:a16="http://schemas.microsoft.com/office/drawing/2014/main" id="{860A1161-D392-2A70-91CB-4D75C78F0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85" y="1587824"/>
            <a:ext cx="1117204" cy="109945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A0E964C-5D09-84FC-871B-4BD7CB80A0AA}"/>
              </a:ext>
            </a:extLst>
          </p:cNvPr>
          <p:cNvSpPr/>
          <p:nvPr/>
        </p:nvSpPr>
        <p:spPr>
          <a:xfrm>
            <a:off x="2440168" y="1673994"/>
            <a:ext cx="935183" cy="930840"/>
          </a:xfrm>
          <a:prstGeom prst="ellipse">
            <a:avLst/>
          </a:prstGeom>
          <a:noFill/>
          <a:ln w="28575">
            <a:solidFill>
              <a:srgbClr val="45E8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3ECEFB-2C48-626D-2E41-8C3D2DB87FAE}"/>
              </a:ext>
            </a:extLst>
          </p:cNvPr>
          <p:cNvSpPr txBox="1"/>
          <p:nvPr/>
        </p:nvSpPr>
        <p:spPr>
          <a:xfrm>
            <a:off x="241263" y="2683113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Right </a:t>
            </a:r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Muslim</a:t>
            </a:r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 approach</a:t>
            </a:r>
            <a:endParaRPr lang="en-US" sz="3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E810C9-39D1-7AA8-492D-39EF656A745D}"/>
              </a:ext>
            </a:extLst>
          </p:cNvPr>
          <p:cNvSpPr/>
          <p:nvPr/>
        </p:nvSpPr>
        <p:spPr>
          <a:xfrm>
            <a:off x="8068082" y="1761079"/>
            <a:ext cx="935183" cy="930840"/>
          </a:xfrm>
          <a:prstGeom prst="ellipse">
            <a:avLst/>
          </a:prstGeom>
          <a:noFill/>
          <a:ln w="28575">
            <a:solidFill>
              <a:srgbClr val="FF6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00D69983-5B76-E3EB-8CC2-050F7E29DC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5171" y="1861457"/>
            <a:ext cx="750425" cy="750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F8B808-CF82-386E-897A-7F86DEA322B1}"/>
              </a:ext>
            </a:extLst>
          </p:cNvPr>
          <p:cNvSpPr txBox="1"/>
          <p:nvPr/>
        </p:nvSpPr>
        <p:spPr>
          <a:xfrm>
            <a:off x="5874275" y="2683112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Wrong Muslim approach</a:t>
            </a:r>
            <a:endParaRPr lang="en-US" sz="3200">
              <a:solidFill>
                <a:srgbClr val="FF6B4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AC22A-76E5-1702-DC0F-0B011DF4100E}"/>
              </a:ext>
            </a:extLst>
          </p:cNvPr>
          <p:cNvSpPr txBox="1"/>
          <p:nvPr/>
        </p:nvSpPr>
        <p:spPr>
          <a:xfrm>
            <a:off x="6504131" y="3655737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Islamic Misconceptions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530E0E-828F-36A1-EECA-3F25AD6D7A3C}"/>
              </a:ext>
            </a:extLst>
          </p:cNvPr>
          <p:cNvSpPr/>
          <p:nvPr/>
        </p:nvSpPr>
        <p:spPr>
          <a:xfrm>
            <a:off x="5702740" y="2814784"/>
            <a:ext cx="58364" cy="2809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BF558EC1-7BB0-0900-35F8-41764E11E3D6}"/>
              </a:ext>
            </a:extLst>
          </p:cNvPr>
          <p:cNvSpPr txBox="1"/>
          <p:nvPr/>
        </p:nvSpPr>
        <p:spPr>
          <a:xfrm>
            <a:off x="6504131" y="3655737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Islamic Misconceptions</a:t>
            </a:r>
          </a:p>
        </p:txBody>
      </p:sp>
    </p:spTree>
    <p:extLst>
      <p:ext uri="{BB962C8B-B14F-4D97-AF65-F5344CB8AC3E}">
        <p14:creationId xmlns:p14="http://schemas.microsoft.com/office/powerpoint/2010/main" val="2492652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25088-E5F5-D3EF-ED16-F4474F878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32ABB3-80DD-E0C9-D404-ECF7A568711F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Approach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D336EEA7-CDB6-6254-BC08-7C9A6CAA3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4" name="Picture 3" descr="A green leaf on a crescent moon&#10;&#10;AI-generated content may be incorrect.">
            <a:extLst>
              <a:ext uri="{FF2B5EF4-FFF2-40B4-BE49-F238E27FC236}">
                <a16:creationId xmlns:a16="http://schemas.microsoft.com/office/drawing/2014/main" id="{5C93F273-1EDB-D636-A8E6-75FCE2223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85" y="1587824"/>
            <a:ext cx="1117204" cy="109945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F545E19-6497-DB7A-7BBA-2A6111D566D2}"/>
              </a:ext>
            </a:extLst>
          </p:cNvPr>
          <p:cNvSpPr/>
          <p:nvPr/>
        </p:nvSpPr>
        <p:spPr>
          <a:xfrm>
            <a:off x="2440168" y="1673994"/>
            <a:ext cx="935183" cy="930840"/>
          </a:xfrm>
          <a:prstGeom prst="ellipse">
            <a:avLst/>
          </a:prstGeom>
          <a:noFill/>
          <a:ln w="28575">
            <a:solidFill>
              <a:srgbClr val="45E8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39C7F-16DE-6B36-BCBC-42F1F4D17D5C}"/>
              </a:ext>
            </a:extLst>
          </p:cNvPr>
          <p:cNvSpPr txBox="1"/>
          <p:nvPr/>
        </p:nvSpPr>
        <p:spPr>
          <a:xfrm>
            <a:off x="241263" y="2683113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Right </a:t>
            </a:r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Muslim</a:t>
            </a:r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 approach</a:t>
            </a:r>
            <a:endParaRPr lang="en-US" sz="3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F73BA2-E052-CCD9-2FE7-360B9C898F25}"/>
              </a:ext>
            </a:extLst>
          </p:cNvPr>
          <p:cNvSpPr/>
          <p:nvPr/>
        </p:nvSpPr>
        <p:spPr>
          <a:xfrm>
            <a:off x="8068082" y="1761079"/>
            <a:ext cx="935183" cy="930840"/>
          </a:xfrm>
          <a:prstGeom prst="ellipse">
            <a:avLst/>
          </a:prstGeom>
          <a:noFill/>
          <a:ln w="28575">
            <a:solidFill>
              <a:srgbClr val="FF6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25068479-DF51-297D-74A0-7CB5535169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5171" y="1861457"/>
            <a:ext cx="750425" cy="750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0236BA-8CA7-1574-4D68-3D52FF3AEC0F}"/>
              </a:ext>
            </a:extLst>
          </p:cNvPr>
          <p:cNvSpPr txBox="1"/>
          <p:nvPr/>
        </p:nvSpPr>
        <p:spPr>
          <a:xfrm>
            <a:off x="5874275" y="2683112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Wrong Muslim approach</a:t>
            </a:r>
            <a:endParaRPr lang="en-US" sz="3200">
              <a:solidFill>
                <a:srgbClr val="FF6B4C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338762-76E0-DE49-4BB4-9FA5F4BE6AC0}"/>
              </a:ext>
            </a:extLst>
          </p:cNvPr>
          <p:cNvSpPr txBox="1"/>
          <p:nvPr/>
        </p:nvSpPr>
        <p:spPr>
          <a:xfrm>
            <a:off x="6504131" y="4175282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Applying Pseudo-teachings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6A565-2D87-BB01-B2A5-A65941AB8B0B}"/>
              </a:ext>
            </a:extLst>
          </p:cNvPr>
          <p:cNvSpPr txBox="1"/>
          <p:nvPr/>
        </p:nvSpPr>
        <p:spPr>
          <a:xfrm>
            <a:off x="6504131" y="3655737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Islamic Misconceptions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BB92DC-44B1-2FF9-2717-3E801AB66148}"/>
              </a:ext>
            </a:extLst>
          </p:cNvPr>
          <p:cNvSpPr/>
          <p:nvPr/>
        </p:nvSpPr>
        <p:spPr>
          <a:xfrm>
            <a:off x="5702740" y="2814784"/>
            <a:ext cx="58364" cy="2809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63597017-E12D-C7FC-D37D-4A4857AC560E}"/>
              </a:ext>
            </a:extLst>
          </p:cNvPr>
          <p:cNvSpPr txBox="1"/>
          <p:nvPr/>
        </p:nvSpPr>
        <p:spPr>
          <a:xfrm>
            <a:off x="6504131" y="3655737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Islamic Misconceptions</a:t>
            </a:r>
          </a:p>
        </p:txBody>
      </p:sp>
    </p:spTree>
    <p:extLst>
      <p:ext uri="{BB962C8B-B14F-4D97-AF65-F5344CB8AC3E}">
        <p14:creationId xmlns:p14="http://schemas.microsoft.com/office/powerpoint/2010/main" val="3232690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4013C-27D7-4165-C2DB-0FAC0AD70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DC259A-C856-D7A7-6AA1-954F8F3EBF29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Approach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340FCF53-AE48-D0F9-2D90-F1FCD8D00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4" name="Picture 3" descr="A green leaf on a crescent moon&#10;&#10;AI-generated content may be incorrect.">
            <a:extLst>
              <a:ext uri="{FF2B5EF4-FFF2-40B4-BE49-F238E27FC236}">
                <a16:creationId xmlns:a16="http://schemas.microsoft.com/office/drawing/2014/main" id="{7A135196-1118-EB9E-C43B-39DDEA8F3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85" y="1587824"/>
            <a:ext cx="1117204" cy="109945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60E6FD6-D25A-1A79-F8CA-240950103471}"/>
              </a:ext>
            </a:extLst>
          </p:cNvPr>
          <p:cNvSpPr/>
          <p:nvPr/>
        </p:nvSpPr>
        <p:spPr>
          <a:xfrm>
            <a:off x="2440168" y="1673994"/>
            <a:ext cx="935183" cy="930840"/>
          </a:xfrm>
          <a:prstGeom prst="ellipse">
            <a:avLst/>
          </a:prstGeom>
          <a:noFill/>
          <a:ln w="28575">
            <a:solidFill>
              <a:srgbClr val="45E8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30F6F-E162-FA7C-2DC8-59A3BED72665}"/>
              </a:ext>
            </a:extLst>
          </p:cNvPr>
          <p:cNvSpPr txBox="1"/>
          <p:nvPr/>
        </p:nvSpPr>
        <p:spPr>
          <a:xfrm>
            <a:off x="241263" y="2683113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Right </a:t>
            </a:r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Muslim</a:t>
            </a:r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 approach</a:t>
            </a:r>
            <a:endParaRPr lang="en-US" sz="3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9EFAA3-97AD-7AFB-4EEA-FF1B5E4A3E73}"/>
              </a:ext>
            </a:extLst>
          </p:cNvPr>
          <p:cNvSpPr/>
          <p:nvPr/>
        </p:nvSpPr>
        <p:spPr>
          <a:xfrm>
            <a:off x="8068082" y="1761079"/>
            <a:ext cx="935183" cy="930840"/>
          </a:xfrm>
          <a:prstGeom prst="ellipse">
            <a:avLst/>
          </a:prstGeom>
          <a:noFill/>
          <a:ln w="28575">
            <a:solidFill>
              <a:srgbClr val="FF6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12F73B4B-480D-2F61-C6B1-B2444F6CB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5171" y="1861457"/>
            <a:ext cx="750425" cy="750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65DA17-C5CA-613E-C2E9-05F966B384F9}"/>
              </a:ext>
            </a:extLst>
          </p:cNvPr>
          <p:cNvSpPr txBox="1"/>
          <p:nvPr/>
        </p:nvSpPr>
        <p:spPr>
          <a:xfrm>
            <a:off x="5874275" y="2683112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Wrong Muslim approach</a:t>
            </a:r>
            <a:endParaRPr lang="en-US" sz="3200">
              <a:solidFill>
                <a:srgbClr val="FF6B4C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252697-82A0-EE52-8738-9D166C0AD0AE}"/>
              </a:ext>
            </a:extLst>
          </p:cNvPr>
          <p:cNvSpPr txBox="1"/>
          <p:nvPr/>
        </p:nvSpPr>
        <p:spPr>
          <a:xfrm>
            <a:off x="6504131" y="4175282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Applying Pseudo-teachings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035D2D-7E39-2AA0-AFC8-AF90BC6FD7B5}"/>
              </a:ext>
            </a:extLst>
          </p:cNvPr>
          <p:cNvSpPr txBox="1"/>
          <p:nvPr/>
        </p:nvSpPr>
        <p:spPr>
          <a:xfrm>
            <a:off x="6504131" y="3655737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Islamic Misconceptions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F56BBD-7010-2917-E1EA-8E797BFFE8E4}"/>
              </a:ext>
            </a:extLst>
          </p:cNvPr>
          <p:cNvSpPr txBox="1"/>
          <p:nvPr/>
        </p:nvSpPr>
        <p:spPr>
          <a:xfrm>
            <a:off x="6504131" y="4696143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Waiting for things to change</a:t>
            </a:r>
            <a:endParaRPr lang="en-US">
              <a:solidFill>
                <a:srgbClr val="FFCAB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2F43A8-B935-7ADC-9CF3-AB0BB63B6161}"/>
              </a:ext>
            </a:extLst>
          </p:cNvPr>
          <p:cNvSpPr/>
          <p:nvPr/>
        </p:nvSpPr>
        <p:spPr>
          <a:xfrm>
            <a:off x="5702740" y="2814784"/>
            <a:ext cx="58364" cy="2809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5E54F063-A298-A5AA-BF62-F9093DA2EBB5}"/>
              </a:ext>
            </a:extLst>
          </p:cNvPr>
          <p:cNvSpPr txBox="1"/>
          <p:nvPr/>
        </p:nvSpPr>
        <p:spPr>
          <a:xfrm>
            <a:off x="6504131" y="3655737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Islamic Misconceptions</a:t>
            </a:r>
          </a:p>
        </p:txBody>
      </p:sp>
    </p:spTree>
    <p:extLst>
      <p:ext uri="{BB962C8B-B14F-4D97-AF65-F5344CB8AC3E}">
        <p14:creationId xmlns:p14="http://schemas.microsoft.com/office/powerpoint/2010/main" val="719408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00E3E-6411-15E0-6AA7-2A337BF4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CF5B79-455B-20DA-88B7-58A32E0E791B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Approach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45040AD2-3044-15E7-3279-44CEBA731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4" name="Picture 3" descr="A green leaf on a crescent moon&#10;&#10;AI-generated content may be incorrect.">
            <a:extLst>
              <a:ext uri="{FF2B5EF4-FFF2-40B4-BE49-F238E27FC236}">
                <a16:creationId xmlns:a16="http://schemas.microsoft.com/office/drawing/2014/main" id="{D9FCF6BF-96A4-FF85-EC4D-9E545FFAB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85" y="1587824"/>
            <a:ext cx="1117204" cy="109945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750614F-D84A-DA1A-2388-FE0DFC1A8426}"/>
              </a:ext>
            </a:extLst>
          </p:cNvPr>
          <p:cNvSpPr/>
          <p:nvPr/>
        </p:nvSpPr>
        <p:spPr>
          <a:xfrm>
            <a:off x="2440168" y="1673994"/>
            <a:ext cx="935183" cy="930840"/>
          </a:xfrm>
          <a:prstGeom prst="ellipse">
            <a:avLst/>
          </a:prstGeom>
          <a:noFill/>
          <a:ln w="28575">
            <a:solidFill>
              <a:srgbClr val="45E8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465D8-1C41-A0E3-EF19-A00B561FBD43}"/>
              </a:ext>
            </a:extLst>
          </p:cNvPr>
          <p:cNvSpPr txBox="1"/>
          <p:nvPr/>
        </p:nvSpPr>
        <p:spPr>
          <a:xfrm>
            <a:off x="241263" y="2683113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Right </a:t>
            </a:r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Muslim</a:t>
            </a:r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 approach</a:t>
            </a:r>
            <a:endParaRPr lang="en-US" sz="3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D03251-4FE5-216D-98FB-805B9067F304}"/>
              </a:ext>
            </a:extLst>
          </p:cNvPr>
          <p:cNvSpPr txBox="1"/>
          <p:nvPr/>
        </p:nvSpPr>
        <p:spPr>
          <a:xfrm>
            <a:off x="803599" y="3654421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BEE8CE"/>
                </a:solidFill>
                <a:latin typeface="Candara"/>
                <a:ea typeface="Calibri"/>
                <a:cs typeface="Calibri"/>
              </a:rPr>
              <a:t>- Understanding Islam</a:t>
            </a:r>
            <a:endParaRPr lang="en-US" sz="2800">
              <a:solidFill>
                <a:srgbClr val="BEE8CE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D092C86-4F96-3A20-DA37-EB6928BFC3CC}"/>
              </a:ext>
            </a:extLst>
          </p:cNvPr>
          <p:cNvSpPr/>
          <p:nvPr/>
        </p:nvSpPr>
        <p:spPr>
          <a:xfrm>
            <a:off x="8068082" y="1761079"/>
            <a:ext cx="935183" cy="930840"/>
          </a:xfrm>
          <a:prstGeom prst="ellipse">
            <a:avLst/>
          </a:prstGeom>
          <a:noFill/>
          <a:ln w="28575">
            <a:solidFill>
              <a:srgbClr val="FF6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E43222F9-6012-1D0A-2AED-ADB81DFCBE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5171" y="1861457"/>
            <a:ext cx="750425" cy="750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991E49-BB1C-32AA-4B86-EEAAC4E575C6}"/>
              </a:ext>
            </a:extLst>
          </p:cNvPr>
          <p:cNvSpPr txBox="1"/>
          <p:nvPr/>
        </p:nvSpPr>
        <p:spPr>
          <a:xfrm>
            <a:off x="5874275" y="2683112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Wrong Muslim approach</a:t>
            </a:r>
            <a:endParaRPr lang="en-US" sz="3200">
              <a:solidFill>
                <a:srgbClr val="FF6B4C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D67647-61FA-6955-08B7-8AAFB05F5534}"/>
              </a:ext>
            </a:extLst>
          </p:cNvPr>
          <p:cNvSpPr txBox="1"/>
          <p:nvPr/>
        </p:nvSpPr>
        <p:spPr>
          <a:xfrm>
            <a:off x="6504131" y="4175282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Applying Pseudo-teachings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857145-680B-F114-F3FA-F88B42B4B324}"/>
              </a:ext>
            </a:extLst>
          </p:cNvPr>
          <p:cNvSpPr txBox="1"/>
          <p:nvPr/>
        </p:nvSpPr>
        <p:spPr>
          <a:xfrm>
            <a:off x="6504131" y="3655737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Islamic Misconceptions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4B8D1-7FDB-BBC3-980B-AB401E7C10E8}"/>
              </a:ext>
            </a:extLst>
          </p:cNvPr>
          <p:cNvSpPr txBox="1"/>
          <p:nvPr/>
        </p:nvSpPr>
        <p:spPr>
          <a:xfrm>
            <a:off x="6504131" y="4696143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Waiting for things to change</a:t>
            </a:r>
            <a:endParaRPr lang="en-US">
              <a:solidFill>
                <a:srgbClr val="FFCAB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1620D8-BEE5-0DF0-DF47-708121D81E5C}"/>
              </a:ext>
            </a:extLst>
          </p:cNvPr>
          <p:cNvSpPr/>
          <p:nvPr/>
        </p:nvSpPr>
        <p:spPr>
          <a:xfrm>
            <a:off x="5702740" y="2814784"/>
            <a:ext cx="58364" cy="2809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ACA1981F-0224-3D0F-F366-384DE566B59E}"/>
              </a:ext>
            </a:extLst>
          </p:cNvPr>
          <p:cNvSpPr txBox="1"/>
          <p:nvPr/>
        </p:nvSpPr>
        <p:spPr>
          <a:xfrm>
            <a:off x="6504131" y="3655737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Islamic Misconceptions</a:t>
            </a:r>
          </a:p>
        </p:txBody>
      </p:sp>
    </p:spTree>
    <p:extLst>
      <p:ext uri="{BB962C8B-B14F-4D97-AF65-F5344CB8AC3E}">
        <p14:creationId xmlns:p14="http://schemas.microsoft.com/office/powerpoint/2010/main" val="3515138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16D02-5AFC-5DBA-0FBF-885F7464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32A0C-D144-6ED3-208C-772A0E098B61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Approach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AF7D74FC-AAE2-D291-152C-7A647F0D1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4" name="Picture 3" descr="A green leaf on a crescent moon&#10;&#10;AI-generated content may be incorrect.">
            <a:extLst>
              <a:ext uri="{FF2B5EF4-FFF2-40B4-BE49-F238E27FC236}">
                <a16:creationId xmlns:a16="http://schemas.microsoft.com/office/drawing/2014/main" id="{20049D82-2C2B-E1EC-EB83-BDEF00532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85" y="1587824"/>
            <a:ext cx="1117204" cy="109945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3863D90-0558-C5AF-A617-25FF8C9EAE83}"/>
              </a:ext>
            </a:extLst>
          </p:cNvPr>
          <p:cNvSpPr/>
          <p:nvPr/>
        </p:nvSpPr>
        <p:spPr>
          <a:xfrm>
            <a:off x="2440168" y="1673994"/>
            <a:ext cx="935183" cy="930840"/>
          </a:xfrm>
          <a:prstGeom prst="ellipse">
            <a:avLst/>
          </a:prstGeom>
          <a:noFill/>
          <a:ln w="28575">
            <a:solidFill>
              <a:srgbClr val="45E8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C1A49-0F14-ECE4-4419-52FCD21B9168}"/>
              </a:ext>
            </a:extLst>
          </p:cNvPr>
          <p:cNvSpPr txBox="1"/>
          <p:nvPr/>
        </p:nvSpPr>
        <p:spPr>
          <a:xfrm>
            <a:off x="241263" y="2683113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Right </a:t>
            </a:r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Muslim</a:t>
            </a:r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 approach</a:t>
            </a:r>
            <a:endParaRPr lang="en-US" sz="3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767CA8-E410-5AEF-B974-1A8AA0A5218D}"/>
              </a:ext>
            </a:extLst>
          </p:cNvPr>
          <p:cNvSpPr txBox="1"/>
          <p:nvPr/>
        </p:nvSpPr>
        <p:spPr>
          <a:xfrm>
            <a:off x="803599" y="3654421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BEE8CE"/>
                </a:solidFill>
                <a:latin typeface="Candara"/>
                <a:ea typeface="Calibri"/>
                <a:cs typeface="Calibri"/>
              </a:rPr>
              <a:t>- Understanding Islam</a:t>
            </a:r>
            <a:endParaRPr lang="en-US" sz="2800">
              <a:solidFill>
                <a:srgbClr val="BEE8CE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58C299-77EC-1F4F-1794-CC76E3B3057B}"/>
              </a:ext>
            </a:extLst>
          </p:cNvPr>
          <p:cNvSpPr/>
          <p:nvPr/>
        </p:nvSpPr>
        <p:spPr>
          <a:xfrm>
            <a:off x="8068082" y="1761079"/>
            <a:ext cx="935183" cy="930840"/>
          </a:xfrm>
          <a:prstGeom prst="ellipse">
            <a:avLst/>
          </a:prstGeom>
          <a:noFill/>
          <a:ln w="28575">
            <a:solidFill>
              <a:srgbClr val="FF6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4F2EC720-46CE-F433-7C8E-BBA2C335D9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5171" y="1861457"/>
            <a:ext cx="750425" cy="750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D525B1-EBA3-4154-5C0D-9B2F4FB24AE1}"/>
              </a:ext>
            </a:extLst>
          </p:cNvPr>
          <p:cNvSpPr txBox="1"/>
          <p:nvPr/>
        </p:nvSpPr>
        <p:spPr>
          <a:xfrm>
            <a:off x="5874275" y="2683112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Wrong Muslim approach</a:t>
            </a:r>
            <a:endParaRPr lang="en-US" sz="3200">
              <a:solidFill>
                <a:srgbClr val="FF6B4C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CA71E0-813D-A417-1B59-272537383F68}"/>
              </a:ext>
            </a:extLst>
          </p:cNvPr>
          <p:cNvSpPr txBox="1"/>
          <p:nvPr/>
        </p:nvSpPr>
        <p:spPr>
          <a:xfrm>
            <a:off x="803598" y="4175281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BEE8CE"/>
                </a:solidFill>
                <a:latin typeface="Candara"/>
                <a:ea typeface="Calibri"/>
                <a:cs typeface="Calibri"/>
              </a:rPr>
              <a:t>- Applying its teachings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DB42F1-C0B4-8643-8CF5-90289F4FD54E}"/>
              </a:ext>
            </a:extLst>
          </p:cNvPr>
          <p:cNvSpPr txBox="1"/>
          <p:nvPr/>
        </p:nvSpPr>
        <p:spPr>
          <a:xfrm>
            <a:off x="6504131" y="4175282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Applying Pseudo-teachings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6B90C-43CC-6388-4EB3-F626FB032F9B}"/>
              </a:ext>
            </a:extLst>
          </p:cNvPr>
          <p:cNvSpPr txBox="1"/>
          <p:nvPr/>
        </p:nvSpPr>
        <p:spPr>
          <a:xfrm>
            <a:off x="6504131" y="3655737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Islamic Misconceptions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9FF205-9B2C-50CA-47C1-B88CD96BB680}"/>
              </a:ext>
            </a:extLst>
          </p:cNvPr>
          <p:cNvSpPr txBox="1"/>
          <p:nvPr/>
        </p:nvSpPr>
        <p:spPr>
          <a:xfrm>
            <a:off x="6504131" y="4696143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Waiting for things to change</a:t>
            </a:r>
            <a:endParaRPr lang="en-US">
              <a:solidFill>
                <a:srgbClr val="FFCAB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27D995-D42C-079A-9201-30E5D9F4CF1F}"/>
              </a:ext>
            </a:extLst>
          </p:cNvPr>
          <p:cNvSpPr/>
          <p:nvPr/>
        </p:nvSpPr>
        <p:spPr>
          <a:xfrm>
            <a:off x="5702740" y="2814784"/>
            <a:ext cx="58364" cy="2809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E07BF1EC-42EC-5DAF-6BC5-4B328718B221}"/>
              </a:ext>
            </a:extLst>
          </p:cNvPr>
          <p:cNvSpPr txBox="1"/>
          <p:nvPr/>
        </p:nvSpPr>
        <p:spPr>
          <a:xfrm>
            <a:off x="6504131" y="3655737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Islamic Misconceptions</a:t>
            </a:r>
          </a:p>
        </p:txBody>
      </p:sp>
    </p:spTree>
    <p:extLst>
      <p:ext uri="{BB962C8B-B14F-4D97-AF65-F5344CB8AC3E}">
        <p14:creationId xmlns:p14="http://schemas.microsoft.com/office/powerpoint/2010/main" val="921956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EF932-7252-8FD6-F1D0-0EA2E81D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A945A1-4991-794B-114D-6624074B1C19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Approach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6D17F28F-9D3A-FE5A-138C-2C5F74AA0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4" name="Picture 3" descr="A green leaf on a crescent moon&#10;&#10;AI-generated content may be incorrect.">
            <a:extLst>
              <a:ext uri="{FF2B5EF4-FFF2-40B4-BE49-F238E27FC236}">
                <a16:creationId xmlns:a16="http://schemas.microsoft.com/office/drawing/2014/main" id="{7DE8551F-0AAC-7767-C129-2FA53125D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85" y="1587824"/>
            <a:ext cx="1117204" cy="109945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5BCD4CC-9C13-F679-BCD0-627FAD73AB00}"/>
              </a:ext>
            </a:extLst>
          </p:cNvPr>
          <p:cNvSpPr/>
          <p:nvPr/>
        </p:nvSpPr>
        <p:spPr>
          <a:xfrm>
            <a:off x="2440168" y="1673994"/>
            <a:ext cx="935183" cy="930840"/>
          </a:xfrm>
          <a:prstGeom prst="ellipse">
            <a:avLst/>
          </a:prstGeom>
          <a:noFill/>
          <a:ln w="28575">
            <a:solidFill>
              <a:srgbClr val="45E8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D36A8-474F-6597-AEF0-5921685EC772}"/>
              </a:ext>
            </a:extLst>
          </p:cNvPr>
          <p:cNvSpPr txBox="1"/>
          <p:nvPr/>
        </p:nvSpPr>
        <p:spPr>
          <a:xfrm>
            <a:off x="241263" y="2683113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Right </a:t>
            </a:r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Muslim</a:t>
            </a:r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 approach</a:t>
            </a:r>
            <a:endParaRPr lang="en-US" sz="3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5B94FF-071F-6EEE-899B-39BE9E544035}"/>
              </a:ext>
            </a:extLst>
          </p:cNvPr>
          <p:cNvSpPr txBox="1"/>
          <p:nvPr/>
        </p:nvSpPr>
        <p:spPr>
          <a:xfrm>
            <a:off x="803599" y="3654421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BEE8CE"/>
                </a:solidFill>
                <a:latin typeface="Candara"/>
                <a:ea typeface="Calibri"/>
                <a:cs typeface="Calibri"/>
              </a:rPr>
              <a:t>- Understanding Islam</a:t>
            </a:r>
            <a:endParaRPr lang="en-US" sz="2800">
              <a:solidFill>
                <a:srgbClr val="BEE8CE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72CEBE-BB97-1E8C-50D5-0EFEB444BB8C}"/>
              </a:ext>
            </a:extLst>
          </p:cNvPr>
          <p:cNvSpPr/>
          <p:nvPr/>
        </p:nvSpPr>
        <p:spPr>
          <a:xfrm>
            <a:off x="8068082" y="1761079"/>
            <a:ext cx="935183" cy="930840"/>
          </a:xfrm>
          <a:prstGeom prst="ellipse">
            <a:avLst/>
          </a:prstGeom>
          <a:noFill/>
          <a:ln w="28575">
            <a:solidFill>
              <a:srgbClr val="FF6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9020FA8E-7ADF-4A19-EF2E-9B960C1505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5171" y="1861457"/>
            <a:ext cx="750425" cy="750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77F861-0A86-A4E0-D837-60E6800EFFDB}"/>
              </a:ext>
            </a:extLst>
          </p:cNvPr>
          <p:cNvSpPr txBox="1"/>
          <p:nvPr/>
        </p:nvSpPr>
        <p:spPr>
          <a:xfrm>
            <a:off x="5874275" y="2683112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Wrong Muslim approach</a:t>
            </a:r>
            <a:endParaRPr lang="en-US" sz="3200">
              <a:solidFill>
                <a:srgbClr val="FF6B4C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EE3954-8CB7-FB05-0AA1-6600C3E88965}"/>
              </a:ext>
            </a:extLst>
          </p:cNvPr>
          <p:cNvSpPr txBox="1"/>
          <p:nvPr/>
        </p:nvSpPr>
        <p:spPr>
          <a:xfrm>
            <a:off x="803598" y="4175281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BEE8CE"/>
                </a:solidFill>
                <a:latin typeface="Candara"/>
                <a:ea typeface="Calibri"/>
                <a:cs typeface="Calibri"/>
              </a:rPr>
              <a:t>- Applying its teachings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448270-A61E-4DBA-5278-DA852C014656}"/>
              </a:ext>
            </a:extLst>
          </p:cNvPr>
          <p:cNvSpPr txBox="1"/>
          <p:nvPr/>
        </p:nvSpPr>
        <p:spPr>
          <a:xfrm>
            <a:off x="803598" y="4696142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BEE8CE"/>
                </a:solidFill>
                <a:latin typeface="Candara"/>
                <a:ea typeface="Calibri"/>
                <a:cs typeface="Calibri"/>
              </a:rPr>
              <a:t>- Taking means and measures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2A88C5-C7F0-6ECE-E345-0C2B42533AD3}"/>
              </a:ext>
            </a:extLst>
          </p:cNvPr>
          <p:cNvSpPr txBox="1"/>
          <p:nvPr/>
        </p:nvSpPr>
        <p:spPr>
          <a:xfrm>
            <a:off x="6504131" y="4175282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Applying Pseudo-teachings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777D92-B870-953C-F0F8-0FF47B6121A3}"/>
              </a:ext>
            </a:extLst>
          </p:cNvPr>
          <p:cNvSpPr txBox="1"/>
          <p:nvPr/>
        </p:nvSpPr>
        <p:spPr>
          <a:xfrm>
            <a:off x="6504131" y="3655737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Islamic Misconceptions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62548-FE34-1CA1-C8F9-55CD216B6E86}"/>
              </a:ext>
            </a:extLst>
          </p:cNvPr>
          <p:cNvSpPr txBox="1"/>
          <p:nvPr/>
        </p:nvSpPr>
        <p:spPr>
          <a:xfrm>
            <a:off x="6504131" y="4696143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Waiting for things to change</a:t>
            </a:r>
            <a:endParaRPr lang="en-US">
              <a:solidFill>
                <a:srgbClr val="FFCAB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1027E0-9DA4-3D0F-66DE-0E9704689495}"/>
              </a:ext>
            </a:extLst>
          </p:cNvPr>
          <p:cNvSpPr/>
          <p:nvPr/>
        </p:nvSpPr>
        <p:spPr>
          <a:xfrm>
            <a:off x="5702740" y="2814784"/>
            <a:ext cx="58364" cy="2809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36252737-8430-D951-79FD-A80E752CD9D4}"/>
              </a:ext>
            </a:extLst>
          </p:cNvPr>
          <p:cNvSpPr txBox="1"/>
          <p:nvPr/>
        </p:nvSpPr>
        <p:spPr>
          <a:xfrm>
            <a:off x="6504131" y="3655737"/>
            <a:ext cx="5318938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- Islamic Misconceptions</a:t>
            </a:r>
          </a:p>
        </p:txBody>
      </p:sp>
    </p:spTree>
    <p:extLst>
      <p:ext uri="{BB962C8B-B14F-4D97-AF65-F5344CB8AC3E}">
        <p14:creationId xmlns:p14="http://schemas.microsoft.com/office/powerpoint/2010/main" val="920263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2DB19-7925-A859-D336-5EB7972E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55E223-68F3-CD99-7562-B6CE27F92E2F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Approach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A92D247C-6650-2ADC-0D03-68497CA86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pic>
        <p:nvPicPr>
          <p:cNvPr id="4" name="Picture 3" descr="A green leaf on a crescent moon&#10;&#10;AI-generated content may be incorrect.">
            <a:extLst>
              <a:ext uri="{FF2B5EF4-FFF2-40B4-BE49-F238E27FC236}">
                <a16:creationId xmlns:a16="http://schemas.microsoft.com/office/drawing/2014/main" id="{CCF571F2-4BBF-2C15-A7F0-475870DC9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85" y="1587824"/>
            <a:ext cx="1117204" cy="109945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0B30EAC-3D54-57D4-C9E0-EE3078B821B8}"/>
              </a:ext>
            </a:extLst>
          </p:cNvPr>
          <p:cNvSpPr/>
          <p:nvPr/>
        </p:nvSpPr>
        <p:spPr>
          <a:xfrm>
            <a:off x="2440168" y="1673994"/>
            <a:ext cx="935183" cy="930840"/>
          </a:xfrm>
          <a:prstGeom prst="ellipse">
            <a:avLst/>
          </a:prstGeom>
          <a:noFill/>
          <a:ln w="28575">
            <a:solidFill>
              <a:srgbClr val="45E8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7A58A-A2CE-F68C-B819-9487DD9CC95E}"/>
              </a:ext>
            </a:extLst>
          </p:cNvPr>
          <p:cNvSpPr txBox="1"/>
          <p:nvPr/>
        </p:nvSpPr>
        <p:spPr>
          <a:xfrm>
            <a:off x="241263" y="2683113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Right </a:t>
            </a:r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Muslim</a:t>
            </a:r>
            <a:r>
              <a:rPr lang="en-US" sz="3200" b="1">
                <a:solidFill>
                  <a:srgbClr val="47E585"/>
                </a:solidFill>
                <a:latin typeface="Candara"/>
                <a:ea typeface="Calibri"/>
                <a:cs typeface="Calibri"/>
              </a:rPr>
              <a:t> approach</a:t>
            </a:r>
            <a:endParaRPr lang="en-US" sz="3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AB9F62-DEBD-DAC1-437D-A7391C342B9B}"/>
              </a:ext>
            </a:extLst>
          </p:cNvPr>
          <p:cNvSpPr/>
          <p:nvPr/>
        </p:nvSpPr>
        <p:spPr>
          <a:xfrm>
            <a:off x="8068082" y="1761079"/>
            <a:ext cx="935183" cy="930840"/>
          </a:xfrm>
          <a:prstGeom prst="ellipse">
            <a:avLst/>
          </a:prstGeom>
          <a:noFill/>
          <a:ln w="28575">
            <a:solidFill>
              <a:srgbClr val="FF6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B76E06F3-AF0D-FC59-D08B-D09F329E2C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5171" y="1861457"/>
            <a:ext cx="750425" cy="750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308B12-D11F-C7EE-792D-6B191E6141B7}"/>
              </a:ext>
            </a:extLst>
          </p:cNvPr>
          <p:cNvSpPr txBox="1"/>
          <p:nvPr/>
        </p:nvSpPr>
        <p:spPr>
          <a:xfrm>
            <a:off x="5874275" y="2683112"/>
            <a:ext cx="5318938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Wrong Muslim approach</a:t>
            </a:r>
            <a:endParaRPr lang="en-US" sz="3200">
              <a:solidFill>
                <a:srgbClr val="FF6B4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AB301B-AACC-E0C3-CC74-6BA7B3609CA7}"/>
              </a:ext>
            </a:extLst>
          </p:cNvPr>
          <p:cNvSpPr/>
          <p:nvPr/>
        </p:nvSpPr>
        <p:spPr>
          <a:xfrm>
            <a:off x="5557597" y="2905498"/>
            <a:ext cx="58364" cy="2809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256A2C-8DEF-3946-2468-CBFB4B4A467F}"/>
              </a:ext>
            </a:extLst>
          </p:cNvPr>
          <p:cNvSpPr txBox="1"/>
          <p:nvPr/>
        </p:nvSpPr>
        <p:spPr>
          <a:xfrm>
            <a:off x="1012241" y="3953777"/>
            <a:ext cx="5318938" cy="70788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rgbClr val="BEE8CE"/>
                </a:solidFill>
                <a:latin typeface="Candara"/>
                <a:ea typeface="Calibri"/>
                <a:cs typeface="Calibri"/>
              </a:rPr>
              <a:t>Tawakkul -  تَوَكُّل</a:t>
            </a:r>
            <a:endParaRPr lang="en-US" sz="4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DA1A1A-9648-1992-4BDB-9F36D6BE2033}"/>
              </a:ext>
            </a:extLst>
          </p:cNvPr>
          <p:cNvSpPr txBox="1"/>
          <p:nvPr/>
        </p:nvSpPr>
        <p:spPr>
          <a:xfrm>
            <a:off x="5888077" y="3955093"/>
            <a:ext cx="5318938" cy="70788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>
                <a:solidFill>
                  <a:srgbClr val="FFCABF"/>
                </a:solidFill>
                <a:latin typeface="Candara"/>
                <a:ea typeface="Calibri"/>
                <a:cs typeface="Calibri"/>
              </a:rPr>
              <a:t>Tawaakul -  تَوَاكُل</a:t>
            </a:r>
          </a:p>
        </p:txBody>
      </p:sp>
    </p:spTree>
    <p:extLst>
      <p:ext uri="{BB962C8B-B14F-4D97-AF65-F5344CB8AC3E}">
        <p14:creationId xmlns:p14="http://schemas.microsoft.com/office/powerpoint/2010/main" val="2166047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A5075-23EE-F40B-A14C-AA07BAD41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B6B89BED-E986-FB73-22A6-004E816CD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C61319-36F6-3334-B7C6-DC803D43EE45}"/>
              </a:ext>
            </a:extLst>
          </p:cNvPr>
          <p:cNvSpPr txBox="1"/>
          <p:nvPr/>
        </p:nvSpPr>
        <p:spPr>
          <a:xfrm>
            <a:off x="1704572" y="3016246"/>
            <a:ext cx="877403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How do we start with                    ?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623999AB-C10F-A56C-7644-B37F00EFFC36}"/>
              </a:ext>
            </a:extLst>
          </p:cNvPr>
          <p:cNvSpPr txBox="1"/>
          <p:nvPr/>
        </p:nvSpPr>
        <p:spPr>
          <a:xfrm>
            <a:off x="7362160" y="3016244"/>
            <a:ext cx="2792857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Recovery</a:t>
            </a:r>
            <a:endParaRPr lang="en-US" sz="4800">
              <a:solidFill>
                <a:srgbClr val="60F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132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A3BF02-B53E-0C79-32E8-8C437832C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2B320E-C973-E7FF-B806-AA21926E1F1F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Recovery main Axes</a:t>
            </a: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891C403B-0089-6458-07D3-579029EE5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402031-7CB6-532C-9010-A3D3DE2117BE}"/>
              </a:ext>
            </a:extLst>
          </p:cNvPr>
          <p:cNvSpPr txBox="1"/>
          <p:nvPr/>
        </p:nvSpPr>
        <p:spPr>
          <a:xfrm>
            <a:off x="1380982" y="3209196"/>
            <a:ext cx="279285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Recovery</a:t>
            </a:r>
            <a:endParaRPr lang="en-US" sz="4400">
              <a:solidFill>
                <a:srgbClr val="60F099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D898B30-2D8A-8B37-35A8-15F77906A82D}"/>
              </a:ext>
            </a:extLst>
          </p:cNvPr>
          <p:cNvSpPr/>
          <p:nvPr/>
        </p:nvSpPr>
        <p:spPr>
          <a:xfrm>
            <a:off x="4863525" y="3489663"/>
            <a:ext cx="2478578" cy="222490"/>
          </a:xfrm>
          <a:prstGeom prst="rightArrow">
            <a:avLst/>
          </a:prstGeom>
          <a:solidFill>
            <a:schemeClr val="bg1"/>
          </a:solidFill>
          <a:ln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artoon of a shell&#10;&#10;AI-generated content may be incorrect.">
            <a:extLst>
              <a:ext uri="{FF2B5EF4-FFF2-40B4-BE49-F238E27FC236}">
                <a16:creationId xmlns:a16="http://schemas.microsoft.com/office/drawing/2014/main" id="{B50EBBCF-3372-A9CE-5EB3-B0B8DEC3B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366" y="2989386"/>
            <a:ext cx="993732" cy="100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14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A4E957-D146-F3AC-7DB3-4E1072B1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3DD2BA-A366-2012-4131-C3E5DC06A488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Recovery main Axes</a:t>
            </a: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B222029E-4CED-57CD-3A42-1523AD97E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76DE43-2CE2-FA6B-750C-0A43DDFA8EC1}"/>
              </a:ext>
            </a:extLst>
          </p:cNvPr>
          <p:cNvSpPr txBox="1"/>
          <p:nvPr/>
        </p:nvSpPr>
        <p:spPr>
          <a:xfrm>
            <a:off x="1380982" y="2285560"/>
            <a:ext cx="279285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Recovery</a:t>
            </a:r>
            <a:endParaRPr lang="en-US" sz="4400">
              <a:solidFill>
                <a:srgbClr val="60F099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5EE538F-66D3-F33B-B7B2-BCB234487670}"/>
              </a:ext>
            </a:extLst>
          </p:cNvPr>
          <p:cNvSpPr/>
          <p:nvPr/>
        </p:nvSpPr>
        <p:spPr>
          <a:xfrm>
            <a:off x="4863525" y="2566027"/>
            <a:ext cx="2478578" cy="222490"/>
          </a:xfrm>
          <a:prstGeom prst="rightArrow">
            <a:avLst/>
          </a:prstGeom>
          <a:solidFill>
            <a:schemeClr val="bg1"/>
          </a:solidFill>
          <a:ln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artoon of a shell&#10;&#10;AI-generated content may be incorrect.">
            <a:extLst>
              <a:ext uri="{FF2B5EF4-FFF2-40B4-BE49-F238E27FC236}">
                <a16:creationId xmlns:a16="http://schemas.microsoft.com/office/drawing/2014/main" id="{7FAFB251-1D49-977F-4F1F-A4481A81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366" y="2065750"/>
            <a:ext cx="993732" cy="10041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5FAAF7-3B76-2D29-4E53-5289965CF303}"/>
              </a:ext>
            </a:extLst>
          </p:cNvPr>
          <p:cNvSpPr txBox="1"/>
          <p:nvPr/>
        </p:nvSpPr>
        <p:spPr>
          <a:xfrm>
            <a:off x="1380981" y="3684300"/>
            <a:ext cx="279285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You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03CDAB1-98D3-78B1-13BE-B6B7009BEDAD}"/>
              </a:ext>
            </a:extLst>
          </p:cNvPr>
          <p:cNvSpPr/>
          <p:nvPr/>
        </p:nvSpPr>
        <p:spPr>
          <a:xfrm>
            <a:off x="4863525" y="3964766"/>
            <a:ext cx="2478578" cy="222490"/>
          </a:xfrm>
          <a:prstGeom prst="rightArrow">
            <a:avLst/>
          </a:prstGeom>
          <a:solidFill>
            <a:schemeClr val="bg1"/>
          </a:solidFill>
          <a:ln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person in a hat picking plants&#10;&#10;AI-generated content may be incorrect.">
            <a:extLst>
              <a:ext uri="{FF2B5EF4-FFF2-40B4-BE49-F238E27FC236}">
                <a16:creationId xmlns:a16="http://schemas.microsoft.com/office/drawing/2014/main" id="{5AA9E7FC-FCBF-861A-C8DE-29B3F8144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367" y="3558436"/>
            <a:ext cx="1087678" cy="111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6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E6335-7725-7833-9E27-9A3E5FE31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3662A1-D5F8-0373-F397-FC9496FBC787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Recovery main Axes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28EF2850-3DDE-0EB0-7465-A1D40DB24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8C2014A3-ACF2-EDD3-6C7B-DC7BCA138F84}"/>
              </a:ext>
            </a:extLst>
          </p:cNvPr>
          <p:cNvSpPr/>
          <p:nvPr/>
        </p:nvSpPr>
        <p:spPr>
          <a:xfrm>
            <a:off x="5667279" y="3192328"/>
            <a:ext cx="2478578" cy="107669"/>
          </a:xfrm>
          <a:prstGeom prst="rightArrow">
            <a:avLst/>
          </a:prstGeom>
          <a:solidFill>
            <a:schemeClr val="bg1"/>
          </a:solidFill>
          <a:ln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artoon of a shell&#10;&#10;AI-generated content may be incorrect.">
            <a:extLst>
              <a:ext uri="{FF2B5EF4-FFF2-40B4-BE49-F238E27FC236}">
                <a16:creationId xmlns:a16="http://schemas.microsoft.com/office/drawing/2014/main" id="{7B517442-C76A-696C-96F1-A4794F822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024" y="2744244"/>
            <a:ext cx="993732" cy="1004171"/>
          </a:xfrm>
          <a:prstGeom prst="rect">
            <a:avLst/>
          </a:prstGeom>
        </p:spPr>
      </p:pic>
      <p:pic>
        <p:nvPicPr>
          <p:cNvPr id="12" name="Picture 11" descr="A person in a hat picking plants&#10;&#10;AI-generated content may be incorrect.">
            <a:extLst>
              <a:ext uri="{FF2B5EF4-FFF2-40B4-BE49-F238E27FC236}">
                <a16:creationId xmlns:a16="http://schemas.microsoft.com/office/drawing/2014/main" id="{FBE9A909-723D-6894-FC77-42179A3F6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408" y="2681614"/>
            <a:ext cx="1087678" cy="11189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B7C94B-8431-5C5D-8E35-76E243349A04}"/>
              </a:ext>
            </a:extLst>
          </p:cNvPr>
          <p:cNvSpPr txBox="1"/>
          <p:nvPr/>
        </p:nvSpPr>
        <p:spPr>
          <a:xfrm>
            <a:off x="2769284" y="2744849"/>
            <a:ext cx="5486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+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FAF1A9-F667-03EE-BE13-201B7C38BE72}"/>
              </a:ext>
            </a:extLst>
          </p:cNvPr>
          <p:cNvSpPr txBox="1"/>
          <p:nvPr/>
        </p:nvSpPr>
        <p:spPr>
          <a:xfrm>
            <a:off x="4710817" y="1565313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Recovery</a:t>
            </a:r>
            <a:endParaRPr lang="en-US">
              <a:solidFill>
                <a:srgbClr val="60F099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3EAE14A-05CC-DB69-4F14-A5347F7F9308}"/>
              </a:ext>
            </a:extLst>
          </p:cNvPr>
          <p:cNvSpPr/>
          <p:nvPr/>
        </p:nvSpPr>
        <p:spPr>
          <a:xfrm>
            <a:off x="4692156" y="1551505"/>
            <a:ext cx="2828643" cy="619521"/>
          </a:xfrm>
          <a:prstGeom prst="round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31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B44E0-87AC-3D05-354D-2A5408E7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D6D277-B44A-DCCD-166A-05054C9E3044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Recovery main Axes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B3D3968D-7AC2-3674-742F-B6D17F811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4724F0C-3996-8FD0-DC9B-4C6373F28E4C}"/>
              </a:ext>
            </a:extLst>
          </p:cNvPr>
          <p:cNvSpPr/>
          <p:nvPr/>
        </p:nvSpPr>
        <p:spPr>
          <a:xfrm>
            <a:off x="5667279" y="3192328"/>
            <a:ext cx="2478578" cy="107669"/>
          </a:xfrm>
          <a:prstGeom prst="rightArrow">
            <a:avLst/>
          </a:prstGeom>
          <a:solidFill>
            <a:schemeClr val="bg1"/>
          </a:solidFill>
          <a:ln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artoon of a shell&#10;&#10;AI-generated content may be incorrect.">
            <a:extLst>
              <a:ext uri="{FF2B5EF4-FFF2-40B4-BE49-F238E27FC236}">
                <a16:creationId xmlns:a16="http://schemas.microsoft.com/office/drawing/2014/main" id="{F624639D-0D3E-44E6-F5AA-CB3FC5975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024" y="2744244"/>
            <a:ext cx="993732" cy="1004171"/>
          </a:xfrm>
          <a:prstGeom prst="rect">
            <a:avLst/>
          </a:prstGeom>
        </p:spPr>
      </p:pic>
      <p:pic>
        <p:nvPicPr>
          <p:cNvPr id="12" name="Picture 11" descr="A person in a hat picking plants&#10;&#10;AI-generated content may be incorrect.">
            <a:extLst>
              <a:ext uri="{FF2B5EF4-FFF2-40B4-BE49-F238E27FC236}">
                <a16:creationId xmlns:a16="http://schemas.microsoft.com/office/drawing/2014/main" id="{423142BB-2D8C-8126-C430-724D216B4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408" y="2681614"/>
            <a:ext cx="1087678" cy="11189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856D69-D037-4E42-1FD8-23C8AA601EB4}"/>
              </a:ext>
            </a:extLst>
          </p:cNvPr>
          <p:cNvSpPr txBox="1"/>
          <p:nvPr/>
        </p:nvSpPr>
        <p:spPr>
          <a:xfrm>
            <a:off x="2769284" y="2744849"/>
            <a:ext cx="5486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+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080A5-4DB2-B4F1-9D55-6B31EE510FB2}"/>
              </a:ext>
            </a:extLst>
          </p:cNvPr>
          <p:cNvSpPr txBox="1"/>
          <p:nvPr/>
        </p:nvSpPr>
        <p:spPr>
          <a:xfrm>
            <a:off x="4710817" y="1565313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Recovery</a:t>
            </a:r>
            <a:endParaRPr lang="en-US">
              <a:solidFill>
                <a:srgbClr val="60F099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E195332-16E5-53A0-9A2C-54D470CC25B0}"/>
              </a:ext>
            </a:extLst>
          </p:cNvPr>
          <p:cNvSpPr/>
          <p:nvPr/>
        </p:nvSpPr>
        <p:spPr>
          <a:xfrm>
            <a:off x="4692156" y="1551505"/>
            <a:ext cx="2828643" cy="619521"/>
          </a:xfrm>
          <a:prstGeom prst="round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770021-03BE-7666-38B7-E04EB921B608}"/>
              </a:ext>
            </a:extLst>
          </p:cNvPr>
          <p:cNvSpPr txBox="1"/>
          <p:nvPr/>
        </p:nvSpPr>
        <p:spPr>
          <a:xfrm>
            <a:off x="1151339" y="475945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 Environment</a:t>
            </a:r>
            <a:endParaRPr lang="en-US" sz="1000">
              <a:solidFill>
                <a:srgbClr val="60F099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73AFAA-57FC-DF5A-D11C-0B208DECB61F}"/>
              </a:ext>
            </a:extLst>
          </p:cNvPr>
          <p:cNvSpPr txBox="1"/>
          <p:nvPr/>
        </p:nvSpPr>
        <p:spPr>
          <a:xfrm>
            <a:off x="1151337" y="4154025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53F2B10-AEFB-D351-163D-156D4B1C6B06}"/>
              </a:ext>
            </a:extLst>
          </p:cNvPr>
          <p:cNvSpPr/>
          <p:nvPr/>
        </p:nvSpPr>
        <p:spPr>
          <a:xfrm>
            <a:off x="2287016" y="4188723"/>
            <a:ext cx="523634" cy="523634"/>
          </a:xfrm>
          <a:prstGeom prst="ellipse">
            <a:avLst/>
          </a:prstGeom>
          <a:noFill/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42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89C979-8ACC-1B47-1688-1BA047156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C8D5BC-5A70-ABE2-A430-6C948937BED1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Recovery main Axes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C8AAA88D-10EB-0576-53C2-D17C4731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2F4765A-85F0-C89F-2018-9B7E8ACCC0F2}"/>
              </a:ext>
            </a:extLst>
          </p:cNvPr>
          <p:cNvSpPr/>
          <p:nvPr/>
        </p:nvSpPr>
        <p:spPr>
          <a:xfrm>
            <a:off x="5667279" y="3192328"/>
            <a:ext cx="2478578" cy="107669"/>
          </a:xfrm>
          <a:prstGeom prst="rightArrow">
            <a:avLst/>
          </a:prstGeom>
          <a:solidFill>
            <a:schemeClr val="bg1"/>
          </a:solidFill>
          <a:ln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artoon of a shell&#10;&#10;AI-generated content may be incorrect.">
            <a:extLst>
              <a:ext uri="{FF2B5EF4-FFF2-40B4-BE49-F238E27FC236}">
                <a16:creationId xmlns:a16="http://schemas.microsoft.com/office/drawing/2014/main" id="{FD4E61EA-8104-4A0E-4A3B-73A8CEAB9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024" y="2744244"/>
            <a:ext cx="993732" cy="1004171"/>
          </a:xfrm>
          <a:prstGeom prst="rect">
            <a:avLst/>
          </a:prstGeom>
        </p:spPr>
      </p:pic>
      <p:pic>
        <p:nvPicPr>
          <p:cNvPr id="12" name="Picture 11" descr="A person in a hat picking plants&#10;&#10;AI-generated content may be incorrect.">
            <a:extLst>
              <a:ext uri="{FF2B5EF4-FFF2-40B4-BE49-F238E27FC236}">
                <a16:creationId xmlns:a16="http://schemas.microsoft.com/office/drawing/2014/main" id="{EC114817-F09F-19D9-FB02-8778992BC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408" y="2681614"/>
            <a:ext cx="1087678" cy="11189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96C3D5-E73D-D066-2372-5DDDA53B11C9}"/>
              </a:ext>
            </a:extLst>
          </p:cNvPr>
          <p:cNvSpPr txBox="1"/>
          <p:nvPr/>
        </p:nvSpPr>
        <p:spPr>
          <a:xfrm>
            <a:off x="2769284" y="2744849"/>
            <a:ext cx="5486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+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2DD475-ADCA-4F71-2D81-A4B4118C966D}"/>
              </a:ext>
            </a:extLst>
          </p:cNvPr>
          <p:cNvSpPr txBox="1"/>
          <p:nvPr/>
        </p:nvSpPr>
        <p:spPr>
          <a:xfrm>
            <a:off x="4710817" y="1565313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Recovery</a:t>
            </a:r>
            <a:endParaRPr lang="en-US">
              <a:solidFill>
                <a:srgbClr val="60F099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8732BBB-EDA5-A28F-D9E7-17548D2B9E9D}"/>
              </a:ext>
            </a:extLst>
          </p:cNvPr>
          <p:cNvSpPr/>
          <p:nvPr/>
        </p:nvSpPr>
        <p:spPr>
          <a:xfrm>
            <a:off x="4692156" y="1551505"/>
            <a:ext cx="2828643" cy="619521"/>
          </a:xfrm>
          <a:prstGeom prst="round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ECCC08-AF41-9B48-4CAC-591208FDAA99}"/>
              </a:ext>
            </a:extLst>
          </p:cNvPr>
          <p:cNvSpPr txBox="1"/>
          <p:nvPr/>
        </p:nvSpPr>
        <p:spPr>
          <a:xfrm>
            <a:off x="1151339" y="475945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 Environment</a:t>
            </a:r>
            <a:endParaRPr lang="en-US" sz="1000">
              <a:solidFill>
                <a:srgbClr val="60F099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3AF6AD-7F7C-D989-1EED-A1C647372216}"/>
              </a:ext>
            </a:extLst>
          </p:cNvPr>
          <p:cNvSpPr txBox="1"/>
          <p:nvPr/>
        </p:nvSpPr>
        <p:spPr>
          <a:xfrm>
            <a:off x="1151337" y="4154025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9202B5D-6968-C808-B668-C3D10FBA9AD7}"/>
              </a:ext>
            </a:extLst>
          </p:cNvPr>
          <p:cNvSpPr/>
          <p:nvPr/>
        </p:nvSpPr>
        <p:spPr>
          <a:xfrm>
            <a:off x="2287016" y="4188723"/>
            <a:ext cx="523634" cy="523634"/>
          </a:xfrm>
          <a:prstGeom prst="ellipse">
            <a:avLst/>
          </a:prstGeom>
          <a:noFill/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FC7303-4141-DA02-19A8-76EBB8437F17}"/>
              </a:ext>
            </a:extLst>
          </p:cNvPr>
          <p:cNvSpPr txBox="1"/>
          <p:nvPr/>
        </p:nvSpPr>
        <p:spPr>
          <a:xfrm>
            <a:off x="4689941" y="475945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Knowledge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30DD77-1D4D-2718-7380-6531925E70BA}"/>
              </a:ext>
            </a:extLst>
          </p:cNvPr>
          <p:cNvSpPr txBox="1"/>
          <p:nvPr/>
        </p:nvSpPr>
        <p:spPr>
          <a:xfrm>
            <a:off x="4689941" y="4174902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2</a:t>
            </a:r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DABE6EC-C301-48E4-AC5F-FABB089F36D1}"/>
              </a:ext>
            </a:extLst>
          </p:cNvPr>
          <p:cNvSpPr/>
          <p:nvPr/>
        </p:nvSpPr>
        <p:spPr>
          <a:xfrm>
            <a:off x="5825619" y="4209599"/>
            <a:ext cx="523634" cy="523634"/>
          </a:xfrm>
          <a:prstGeom prst="ellipse">
            <a:avLst/>
          </a:prstGeom>
          <a:noFill/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73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BE039-BF76-73F4-2186-C8D4A2193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CEB5E6-9A17-200A-924F-6CF5D48E1D96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Recovery main Axes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80B6DDBC-0D63-9045-B71D-C8CF38A0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FEEDA72A-2302-94FA-7BD8-6D5DB629B4E9}"/>
              </a:ext>
            </a:extLst>
          </p:cNvPr>
          <p:cNvSpPr/>
          <p:nvPr/>
        </p:nvSpPr>
        <p:spPr>
          <a:xfrm>
            <a:off x="5667279" y="3192328"/>
            <a:ext cx="2478578" cy="107669"/>
          </a:xfrm>
          <a:prstGeom prst="rightArrow">
            <a:avLst/>
          </a:prstGeom>
          <a:solidFill>
            <a:schemeClr val="bg1"/>
          </a:solidFill>
          <a:ln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artoon of a shell&#10;&#10;AI-generated content may be incorrect.">
            <a:extLst>
              <a:ext uri="{FF2B5EF4-FFF2-40B4-BE49-F238E27FC236}">
                <a16:creationId xmlns:a16="http://schemas.microsoft.com/office/drawing/2014/main" id="{C31A0467-F1BF-25B5-A1BA-F0843EC2B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024" y="2744244"/>
            <a:ext cx="993732" cy="1004171"/>
          </a:xfrm>
          <a:prstGeom prst="rect">
            <a:avLst/>
          </a:prstGeom>
        </p:spPr>
      </p:pic>
      <p:pic>
        <p:nvPicPr>
          <p:cNvPr id="12" name="Picture 11" descr="A person in a hat picking plants&#10;&#10;AI-generated content may be incorrect.">
            <a:extLst>
              <a:ext uri="{FF2B5EF4-FFF2-40B4-BE49-F238E27FC236}">
                <a16:creationId xmlns:a16="http://schemas.microsoft.com/office/drawing/2014/main" id="{A5278068-0887-FEE3-0E0B-9FDC6A3C4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408" y="2681614"/>
            <a:ext cx="1087678" cy="11189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A6311C-0F4B-F432-5286-2E9F1EA59D1A}"/>
              </a:ext>
            </a:extLst>
          </p:cNvPr>
          <p:cNvSpPr txBox="1"/>
          <p:nvPr/>
        </p:nvSpPr>
        <p:spPr>
          <a:xfrm>
            <a:off x="2769284" y="2744849"/>
            <a:ext cx="5486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+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95E9A2-1EC7-83F2-00CD-F8429C8E8F88}"/>
              </a:ext>
            </a:extLst>
          </p:cNvPr>
          <p:cNvSpPr txBox="1"/>
          <p:nvPr/>
        </p:nvSpPr>
        <p:spPr>
          <a:xfrm>
            <a:off x="4710817" y="1565313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Recovery</a:t>
            </a:r>
            <a:endParaRPr lang="en-US">
              <a:solidFill>
                <a:srgbClr val="60F099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CCD15E7-E3B1-8F2E-0668-A3D73C3DA5A4}"/>
              </a:ext>
            </a:extLst>
          </p:cNvPr>
          <p:cNvSpPr/>
          <p:nvPr/>
        </p:nvSpPr>
        <p:spPr>
          <a:xfrm>
            <a:off x="4692156" y="1551505"/>
            <a:ext cx="2828643" cy="619521"/>
          </a:xfrm>
          <a:prstGeom prst="round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C62A52-1C73-C5C5-8C67-4C9DA727CF6A}"/>
              </a:ext>
            </a:extLst>
          </p:cNvPr>
          <p:cNvSpPr txBox="1"/>
          <p:nvPr/>
        </p:nvSpPr>
        <p:spPr>
          <a:xfrm>
            <a:off x="1151339" y="475945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 Environment</a:t>
            </a:r>
            <a:endParaRPr lang="en-US" sz="1000">
              <a:solidFill>
                <a:srgbClr val="60F099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A992BE-79A3-00E6-6BEF-8E4135161DE7}"/>
              </a:ext>
            </a:extLst>
          </p:cNvPr>
          <p:cNvSpPr txBox="1"/>
          <p:nvPr/>
        </p:nvSpPr>
        <p:spPr>
          <a:xfrm>
            <a:off x="1151337" y="4154025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77DCB93-4D5F-4B37-DE47-9AD66CA285C2}"/>
              </a:ext>
            </a:extLst>
          </p:cNvPr>
          <p:cNvSpPr/>
          <p:nvPr/>
        </p:nvSpPr>
        <p:spPr>
          <a:xfrm>
            <a:off x="2287016" y="4188723"/>
            <a:ext cx="523634" cy="523634"/>
          </a:xfrm>
          <a:prstGeom prst="ellipse">
            <a:avLst/>
          </a:prstGeom>
          <a:noFill/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65C7A7-CE0D-34BA-727C-2390B3E04E58}"/>
              </a:ext>
            </a:extLst>
          </p:cNvPr>
          <p:cNvSpPr txBox="1"/>
          <p:nvPr/>
        </p:nvSpPr>
        <p:spPr>
          <a:xfrm>
            <a:off x="4689941" y="475945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Knowledge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310E5C-0A93-AA84-132D-8882CAF55B86}"/>
              </a:ext>
            </a:extLst>
          </p:cNvPr>
          <p:cNvSpPr txBox="1"/>
          <p:nvPr/>
        </p:nvSpPr>
        <p:spPr>
          <a:xfrm>
            <a:off x="4689941" y="4174902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2</a:t>
            </a:r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656775D-2080-2A39-2286-23A3370B87AB}"/>
              </a:ext>
            </a:extLst>
          </p:cNvPr>
          <p:cNvSpPr/>
          <p:nvPr/>
        </p:nvSpPr>
        <p:spPr>
          <a:xfrm>
            <a:off x="5825619" y="4209599"/>
            <a:ext cx="523634" cy="523634"/>
          </a:xfrm>
          <a:prstGeom prst="ellipse">
            <a:avLst/>
          </a:prstGeom>
          <a:noFill/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F852AE-B559-B841-773F-EE66D3901FB8}"/>
              </a:ext>
            </a:extLst>
          </p:cNvPr>
          <p:cNvSpPr txBox="1"/>
          <p:nvPr/>
        </p:nvSpPr>
        <p:spPr>
          <a:xfrm>
            <a:off x="8249420" y="475945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Action</a:t>
            </a:r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8B4A0E-22C7-F4B2-6CD7-B0A25293A1DE}"/>
              </a:ext>
            </a:extLst>
          </p:cNvPr>
          <p:cNvSpPr txBox="1"/>
          <p:nvPr/>
        </p:nvSpPr>
        <p:spPr>
          <a:xfrm>
            <a:off x="8249421" y="412271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E0D52F4-A400-37D8-9B9F-F4D1193BF4A6}"/>
              </a:ext>
            </a:extLst>
          </p:cNvPr>
          <p:cNvSpPr/>
          <p:nvPr/>
        </p:nvSpPr>
        <p:spPr>
          <a:xfrm>
            <a:off x="9385099" y="4199161"/>
            <a:ext cx="523634" cy="523634"/>
          </a:xfrm>
          <a:prstGeom prst="ellipse">
            <a:avLst/>
          </a:prstGeom>
          <a:noFill/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982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D2972-0DBA-EC3E-FB2C-28F8946F9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15892A-0C94-E7E5-DAB4-3E5A03088082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Recovery main Axes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2129FF0A-918F-66D0-D91F-B693F59F5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B22A74A-2D91-4787-71EF-85C1D4C5D82C}"/>
              </a:ext>
            </a:extLst>
          </p:cNvPr>
          <p:cNvSpPr/>
          <p:nvPr/>
        </p:nvSpPr>
        <p:spPr>
          <a:xfrm>
            <a:off x="5667279" y="3192328"/>
            <a:ext cx="2478578" cy="107669"/>
          </a:xfrm>
          <a:prstGeom prst="rightArrow">
            <a:avLst/>
          </a:prstGeom>
          <a:solidFill>
            <a:schemeClr val="bg1"/>
          </a:solidFill>
          <a:ln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artoon of a shell&#10;&#10;AI-generated content may be incorrect.">
            <a:extLst>
              <a:ext uri="{FF2B5EF4-FFF2-40B4-BE49-F238E27FC236}">
                <a16:creationId xmlns:a16="http://schemas.microsoft.com/office/drawing/2014/main" id="{D7ED19B0-1C4F-05B9-2CC3-FB166E829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024" y="2744244"/>
            <a:ext cx="993732" cy="1004171"/>
          </a:xfrm>
          <a:prstGeom prst="rect">
            <a:avLst/>
          </a:prstGeom>
        </p:spPr>
      </p:pic>
      <p:pic>
        <p:nvPicPr>
          <p:cNvPr id="12" name="Picture 11" descr="A person in a hat picking plants&#10;&#10;AI-generated content may be incorrect.">
            <a:extLst>
              <a:ext uri="{FF2B5EF4-FFF2-40B4-BE49-F238E27FC236}">
                <a16:creationId xmlns:a16="http://schemas.microsoft.com/office/drawing/2014/main" id="{2E3BFE7F-C97E-3636-C373-EBC51C353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408" y="2681614"/>
            <a:ext cx="1087678" cy="11189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68AD47-20AA-85F7-DDC4-BBF1A9851314}"/>
              </a:ext>
            </a:extLst>
          </p:cNvPr>
          <p:cNvSpPr txBox="1"/>
          <p:nvPr/>
        </p:nvSpPr>
        <p:spPr>
          <a:xfrm>
            <a:off x="2769284" y="2744849"/>
            <a:ext cx="5486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+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ACA5F1-9F5A-B547-16A3-C5872732FA55}"/>
              </a:ext>
            </a:extLst>
          </p:cNvPr>
          <p:cNvSpPr txBox="1"/>
          <p:nvPr/>
        </p:nvSpPr>
        <p:spPr>
          <a:xfrm>
            <a:off x="4710817" y="1565313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Recovery</a:t>
            </a:r>
            <a:endParaRPr lang="en-US">
              <a:solidFill>
                <a:srgbClr val="60F099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0D9742B-1DD4-7A9E-B4CB-4B6A937D327E}"/>
              </a:ext>
            </a:extLst>
          </p:cNvPr>
          <p:cNvSpPr/>
          <p:nvPr/>
        </p:nvSpPr>
        <p:spPr>
          <a:xfrm>
            <a:off x="4692156" y="1551505"/>
            <a:ext cx="2828643" cy="619521"/>
          </a:xfrm>
          <a:prstGeom prst="round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hand holding a plant&#10;&#10;AI-generated content may be incorrect.">
            <a:extLst>
              <a:ext uri="{FF2B5EF4-FFF2-40B4-BE49-F238E27FC236}">
                <a16:creationId xmlns:a16="http://schemas.microsoft.com/office/drawing/2014/main" id="{9395930E-2703-DA02-E14E-CD4D90B90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4230" y="2514600"/>
            <a:ext cx="1317321" cy="123381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5E5F4C7-81E1-1009-8481-E9528CF8770F}"/>
              </a:ext>
            </a:extLst>
          </p:cNvPr>
          <p:cNvSpPr txBox="1"/>
          <p:nvPr/>
        </p:nvSpPr>
        <p:spPr>
          <a:xfrm>
            <a:off x="1151339" y="475945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 Environment</a:t>
            </a:r>
            <a:endParaRPr lang="en-US" sz="1000">
              <a:solidFill>
                <a:srgbClr val="60F099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372B09-9B1D-407B-4EFF-FA19DD7AE235}"/>
              </a:ext>
            </a:extLst>
          </p:cNvPr>
          <p:cNvSpPr txBox="1"/>
          <p:nvPr/>
        </p:nvSpPr>
        <p:spPr>
          <a:xfrm>
            <a:off x="4689941" y="475945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Knowledge</a:t>
            </a: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EA4D5C-F096-03ED-C912-75D8C54632F7}"/>
              </a:ext>
            </a:extLst>
          </p:cNvPr>
          <p:cNvSpPr txBox="1"/>
          <p:nvPr/>
        </p:nvSpPr>
        <p:spPr>
          <a:xfrm>
            <a:off x="8249420" y="475945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Action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F8A801-4B50-B4FD-085A-34DC729FF4D9}"/>
              </a:ext>
            </a:extLst>
          </p:cNvPr>
          <p:cNvSpPr txBox="1"/>
          <p:nvPr/>
        </p:nvSpPr>
        <p:spPr>
          <a:xfrm>
            <a:off x="4799700" y="2514570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1A9C58F-1200-7C34-AA1D-91DEDDF52260}"/>
              </a:ext>
            </a:extLst>
          </p:cNvPr>
          <p:cNvSpPr/>
          <p:nvPr/>
        </p:nvSpPr>
        <p:spPr>
          <a:xfrm>
            <a:off x="5935379" y="2549268"/>
            <a:ext cx="523634" cy="523634"/>
          </a:xfrm>
          <a:prstGeom prst="ellipse">
            <a:avLst/>
          </a:prstGeom>
          <a:noFill/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A89F4A-C1AE-EFFE-A9B7-5D70B2DFFD5A}"/>
              </a:ext>
            </a:extLst>
          </p:cNvPr>
          <p:cNvSpPr txBox="1"/>
          <p:nvPr/>
        </p:nvSpPr>
        <p:spPr>
          <a:xfrm>
            <a:off x="5440395" y="2512356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2</a:t>
            </a:r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68BE039-36FF-D174-F86A-A5701A492D91}"/>
              </a:ext>
            </a:extLst>
          </p:cNvPr>
          <p:cNvSpPr/>
          <p:nvPr/>
        </p:nvSpPr>
        <p:spPr>
          <a:xfrm>
            <a:off x="6576073" y="2547053"/>
            <a:ext cx="523634" cy="523634"/>
          </a:xfrm>
          <a:prstGeom prst="ellipse">
            <a:avLst/>
          </a:prstGeom>
          <a:noFill/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A766CA-F09B-8597-FB04-5584D6A76684}"/>
              </a:ext>
            </a:extLst>
          </p:cNvPr>
          <p:cNvSpPr txBox="1"/>
          <p:nvPr/>
        </p:nvSpPr>
        <p:spPr>
          <a:xfrm>
            <a:off x="6078875" y="2483256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EFD1A5-95A2-DF5C-9C4B-0BDA42C8192A}"/>
              </a:ext>
            </a:extLst>
          </p:cNvPr>
          <p:cNvSpPr/>
          <p:nvPr/>
        </p:nvSpPr>
        <p:spPr>
          <a:xfrm>
            <a:off x="7214553" y="2559706"/>
            <a:ext cx="523634" cy="523634"/>
          </a:xfrm>
          <a:prstGeom prst="ellipse">
            <a:avLst/>
          </a:prstGeom>
          <a:noFill/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06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C340E-9396-B6A9-8176-7AC44779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id="{9EC53737-52AF-CF1A-C0FC-0C9B991728C0}"/>
              </a:ext>
            </a:extLst>
          </p:cNvPr>
          <p:cNvSpPr/>
          <p:nvPr/>
        </p:nvSpPr>
        <p:spPr>
          <a:xfrm>
            <a:off x="3870701" y="3140800"/>
            <a:ext cx="4353895" cy="1341361"/>
          </a:xfrm>
          <a:prstGeom prst="round2Diag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896C6-9807-F5E3-4B9C-D1EA5F739FC6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Recovery main Axes</a:t>
            </a: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C5F31C73-8B55-A625-3A8D-D4462608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6625AF-9748-6B8A-4474-7362DE05A88D}"/>
              </a:ext>
            </a:extLst>
          </p:cNvPr>
          <p:cNvSpPr txBox="1"/>
          <p:nvPr/>
        </p:nvSpPr>
        <p:spPr>
          <a:xfrm>
            <a:off x="4700379" y="1659258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Recovery</a:t>
            </a:r>
            <a:endParaRPr lang="en-US">
              <a:solidFill>
                <a:srgbClr val="60F099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461C3D-FB16-70F7-09DA-2AB76357B2FC}"/>
              </a:ext>
            </a:extLst>
          </p:cNvPr>
          <p:cNvSpPr/>
          <p:nvPr/>
        </p:nvSpPr>
        <p:spPr>
          <a:xfrm>
            <a:off x="4681718" y="1645450"/>
            <a:ext cx="2828643" cy="619521"/>
          </a:xfrm>
          <a:prstGeom prst="round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F02A3-7427-A8FE-20AD-A87E1A1DAD2D}"/>
              </a:ext>
            </a:extLst>
          </p:cNvPr>
          <p:cNvSpPr txBox="1"/>
          <p:nvPr/>
        </p:nvSpPr>
        <p:spPr>
          <a:xfrm>
            <a:off x="399777" y="3726054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 </a:t>
            </a:r>
            <a:r>
              <a:rPr lang="en-US" sz="28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Environment</a:t>
            </a:r>
            <a:endParaRPr lang="en-US" sz="2800">
              <a:solidFill>
                <a:srgbClr val="60F099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000EC-34B9-3943-AC7D-921DE94B8629}"/>
              </a:ext>
            </a:extLst>
          </p:cNvPr>
          <p:cNvSpPr txBox="1"/>
          <p:nvPr/>
        </p:nvSpPr>
        <p:spPr>
          <a:xfrm>
            <a:off x="4689941" y="3266766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Knowledge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A7B2D-E9C2-CE28-284C-F3B5CCCBAF85}"/>
              </a:ext>
            </a:extLst>
          </p:cNvPr>
          <p:cNvSpPr txBox="1"/>
          <p:nvPr/>
        </p:nvSpPr>
        <p:spPr>
          <a:xfrm>
            <a:off x="5410189" y="3266763"/>
            <a:ext cx="35235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:</a:t>
            </a:r>
            <a:endParaRPr lang="en-US">
              <a:solidFill>
                <a:srgbClr val="60F099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3D4EDE-A1C2-F986-2E75-8EA598CFDEB9}"/>
              </a:ext>
            </a:extLst>
          </p:cNvPr>
          <p:cNvSpPr txBox="1"/>
          <p:nvPr/>
        </p:nvSpPr>
        <p:spPr>
          <a:xfrm>
            <a:off x="8813092" y="3308519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Action</a:t>
            </a:r>
            <a:endParaRPr lang="en-US"/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48639C4E-C263-5B73-E483-D582190438FE}"/>
              </a:ext>
            </a:extLst>
          </p:cNvPr>
          <p:cNvSpPr/>
          <p:nvPr/>
        </p:nvSpPr>
        <p:spPr>
          <a:xfrm>
            <a:off x="457361" y="3151239"/>
            <a:ext cx="2673320" cy="1330923"/>
          </a:xfrm>
          <a:prstGeom prst="round2Diag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BD8FE0D1-D761-6E33-FDDA-C439E2CB57B6}"/>
              </a:ext>
            </a:extLst>
          </p:cNvPr>
          <p:cNvSpPr/>
          <p:nvPr/>
        </p:nvSpPr>
        <p:spPr>
          <a:xfrm>
            <a:off x="8870675" y="3151239"/>
            <a:ext cx="2673320" cy="1330923"/>
          </a:xfrm>
          <a:prstGeom prst="round2Diag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6092474-9870-39A7-17F5-06B038571B69}"/>
              </a:ext>
            </a:extLst>
          </p:cNvPr>
          <p:cNvSpPr/>
          <p:nvPr/>
        </p:nvSpPr>
        <p:spPr>
          <a:xfrm>
            <a:off x="2798495" y="2883928"/>
            <a:ext cx="523634" cy="523634"/>
          </a:xfrm>
          <a:prstGeom prst="ellipse">
            <a:avLst/>
          </a:prstGeom>
          <a:solidFill>
            <a:srgbClr val="014924"/>
          </a:solidFill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A31ED1-A13B-52A7-9AD5-2D532B99EAED}"/>
              </a:ext>
            </a:extLst>
          </p:cNvPr>
          <p:cNvSpPr txBox="1"/>
          <p:nvPr/>
        </p:nvSpPr>
        <p:spPr>
          <a:xfrm>
            <a:off x="1662816" y="284923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13DAC69-4903-3F5C-9428-7D5CE6BC4F22}"/>
              </a:ext>
            </a:extLst>
          </p:cNvPr>
          <p:cNvSpPr/>
          <p:nvPr/>
        </p:nvSpPr>
        <p:spPr>
          <a:xfrm>
            <a:off x="7944604" y="2925681"/>
            <a:ext cx="523634" cy="523634"/>
          </a:xfrm>
          <a:prstGeom prst="ellipse">
            <a:avLst/>
          </a:prstGeom>
          <a:solidFill>
            <a:srgbClr val="014924"/>
          </a:solidFill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B72E7E-B59B-B76E-2F4F-CF6C85707D70}"/>
              </a:ext>
            </a:extLst>
          </p:cNvPr>
          <p:cNvSpPr txBox="1"/>
          <p:nvPr/>
        </p:nvSpPr>
        <p:spPr>
          <a:xfrm>
            <a:off x="6808926" y="2890984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02A92D-D46B-E0E9-705B-87C2DB5EFB04}"/>
              </a:ext>
            </a:extLst>
          </p:cNvPr>
          <p:cNvSpPr/>
          <p:nvPr/>
        </p:nvSpPr>
        <p:spPr>
          <a:xfrm>
            <a:off x="11232685" y="2894366"/>
            <a:ext cx="523634" cy="523634"/>
          </a:xfrm>
          <a:prstGeom prst="ellipse">
            <a:avLst/>
          </a:prstGeom>
          <a:solidFill>
            <a:srgbClr val="014924"/>
          </a:solidFill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845E29-EAEE-72F4-A6DD-32AB5558FFE6}"/>
              </a:ext>
            </a:extLst>
          </p:cNvPr>
          <p:cNvSpPr txBox="1"/>
          <p:nvPr/>
        </p:nvSpPr>
        <p:spPr>
          <a:xfrm>
            <a:off x="10149199" y="2817915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645CFA-1743-2A71-C238-B1CA14BB68FD}"/>
              </a:ext>
            </a:extLst>
          </p:cNvPr>
          <p:cNvSpPr/>
          <p:nvPr/>
        </p:nvSpPr>
        <p:spPr>
          <a:xfrm flipH="1">
            <a:off x="6040651" y="2265995"/>
            <a:ext cx="57356" cy="886149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38B2EE-2EB9-5F79-6E07-2EE2465C1D07}"/>
              </a:ext>
            </a:extLst>
          </p:cNvPr>
          <p:cNvSpPr/>
          <p:nvPr/>
        </p:nvSpPr>
        <p:spPr>
          <a:xfrm rot="5400000" flipH="1">
            <a:off x="8201390" y="533226"/>
            <a:ext cx="57356" cy="4309930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3354A3-7205-B708-624F-138793286866}"/>
              </a:ext>
            </a:extLst>
          </p:cNvPr>
          <p:cNvSpPr/>
          <p:nvPr/>
        </p:nvSpPr>
        <p:spPr>
          <a:xfrm rot="5400000" flipH="1">
            <a:off x="3911226" y="533225"/>
            <a:ext cx="57356" cy="4309930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C47628-BABB-46CE-7377-084F0D9548EF}"/>
              </a:ext>
            </a:extLst>
          </p:cNvPr>
          <p:cNvSpPr/>
          <p:nvPr/>
        </p:nvSpPr>
        <p:spPr>
          <a:xfrm flipH="1">
            <a:off x="10330815" y="2683528"/>
            <a:ext cx="46918" cy="458178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215D2ED-98AB-9FDC-3B8F-C512D2A65BEB}"/>
              </a:ext>
            </a:extLst>
          </p:cNvPr>
          <p:cNvSpPr/>
          <p:nvPr/>
        </p:nvSpPr>
        <p:spPr>
          <a:xfrm flipH="1">
            <a:off x="1740047" y="2662650"/>
            <a:ext cx="46918" cy="458178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72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A201C-A661-75C0-A7DD-5985D140E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id="{34A8F8B6-144E-6E93-71EE-7B3EB6783650}"/>
              </a:ext>
            </a:extLst>
          </p:cNvPr>
          <p:cNvSpPr/>
          <p:nvPr/>
        </p:nvSpPr>
        <p:spPr>
          <a:xfrm>
            <a:off x="3870701" y="3140800"/>
            <a:ext cx="4353895" cy="1341361"/>
          </a:xfrm>
          <a:prstGeom prst="round2Diag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7F6A10-15E6-F4BC-945E-166818487D52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Recovery main Axes</a:t>
            </a: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BD1DE734-7791-9962-BC1B-DCA0AA9D9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520896-9E59-CDA1-40CA-1AB66B22ABDC}"/>
              </a:ext>
            </a:extLst>
          </p:cNvPr>
          <p:cNvSpPr txBox="1"/>
          <p:nvPr/>
        </p:nvSpPr>
        <p:spPr>
          <a:xfrm>
            <a:off x="399777" y="3308519"/>
            <a:ext cx="27928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Redesign the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DEAA0-AC6B-1AC6-8681-120B8E75CC75}"/>
              </a:ext>
            </a:extLst>
          </p:cNvPr>
          <p:cNvSpPr txBox="1"/>
          <p:nvPr/>
        </p:nvSpPr>
        <p:spPr>
          <a:xfrm>
            <a:off x="4700379" y="1659258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Recovery</a:t>
            </a:r>
            <a:endParaRPr lang="en-US">
              <a:solidFill>
                <a:srgbClr val="60F099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D6C549-91A1-A15E-7F3C-1E07B45F0D05}"/>
              </a:ext>
            </a:extLst>
          </p:cNvPr>
          <p:cNvSpPr/>
          <p:nvPr/>
        </p:nvSpPr>
        <p:spPr>
          <a:xfrm>
            <a:off x="4681718" y="1645450"/>
            <a:ext cx="2828643" cy="619521"/>
          </a:xfrm>
          <a:prstGeom prst="round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14FA7-FF44-7A70-F568-7CC57A6A16B6}"/>
              </a:ext>
            </a:extLst>
          </p:cNvPr>
          <p:cNvSpPr txBox="1"/>
          <p:nvPr/>
        </p:nvSpPr>
        <p:spPr>
          <a:xfrm>
            <a:off x="399777" y="3726054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 </a:t>
            </a:r>
            <a:r>
              <a:rPr lang="en-US" sz="28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Environment</a:t>
            </a:r>
            <a:endParaRPr lang="en-US" sz="2800">
              <a:solidFill>
                <a:srgbClr val="60F099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4FF13-8ECB-05BD-BFA2-90955958E616}"/>
              </a:ext>
            </a:extLst>
          </p:cNvPr>
          <p:cNvSpPr txBox="1"/>
          <p:nvPr/>
        </p:nvSpPr>
        <p:spPr>
          <a:xfrm>
            <a:off x="4689941" y="3266766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Knowledge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834C0-44C4-5077-A5FD-C38934131B26}"/>
              </a:ext>
            </a:extLst>
          </p:cNvPr>
          <p:cNvSpPr txBox="1"/>
          <p:nvPr/>
        </p:nvSpPr>
        <p:spPr>
          <a:xfrm>
            <a:off x="5410189" y="3266763"/>
            <a:ext cx="35235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:</a:t>
            </a:r>
            <a:endParaRPr lang="en-US">
              <a:solidFill>
                <a:srgbClr val="60F099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5A5B2B-C829-F2DB-A4CC-3D6E75D62BCB}"/>
              </a:ext>
            </a:extLst>
          </p:cNvPr>
          <p:cNvSpPr txBox="1"/>
          <p:nvPr/>
        </p:nvSpPr>
        <p:spPr>
          <a:xfrm>
            <a:off x="8813092" y="3308519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Action</a:t>
            </a:r>
            <a:endParaRPr lang="en-US"/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ED9E6F65-6E18-C499-0D6E-9DCE5DB3BFE1}"/>
              </a:ext>
            </a:extLst>
          </p:cNvPr>
          <p:cNvSpPr/>
          <p:nvPr/>
        </p:nvSpPr>
        <p:spPr>
          <a:xfrm>
            <a:off x="457361" y="3151239"/>
            <a:ext cx="2673320" cy="1330923"/>
          </a:xfrm>
          <a:prstGeom prst="round2Diag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D37EC9AF-3D9A-FF69-CF36-69012DC4ADE8}"/>
              </a:ext>
            </a:extLst>
          </p:cNvPr>
          <p:cNvSpPr/>
          <p:nvPr/>
        </p:nvSpPr>
        <p:spPr>
          <a:xfrm>
            <a:off x="8870675" y="3151239"/>
            <a:ext cx="2673320" cy="1330923"/>
          </a:xfrm>
          <a:prstGeom prst="round2Diag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C93EF2E-5A69-2E59-A11E-F9B2B5171BE7}"/>
              </a:ext>
            </a:extLst>
          </p:cNvPr>
          <p:cNvSpPr/>
          <p:nvPr/>
        </p:nvSpPr>
        <p:spPr>
          <a:xfrm>
            <a:off x="2798495" y="2883928"/>
            <a:ext cx="523634" cy="523634"/>
          </a:xfrm>
          <a:prstGeom prst="ellipse">
            <a:avLst/>
          </a:prstGeom>
          <a:solidFill>
            <a:srgbClr val="014924"/>
          </a:solidFill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938652-E3B4-E501-50C2-6A47F7B0D964}"/>
              </a:ext>
            </a:extLst>
          </p:cNvPr>
          <p:cNvSpPr txBox="1"/>
          <p:nvPr/>
        </p:nvSpPr>
        <p:spPr>
          <a:xfrm>
            <a:off x="1662816" y="284923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9033CD4-9E37-55D7-6C8D-500119C16723}"/>
              </a:ext>
            </a:extLst>
          </p:cNvPr>
          <p:cNvSpPr/>
          <p:nvPr/>
        </p:nvSpPr>
        <p:spPr>
          <a:xfrm>
            <a:off x="7944604" y="2925681"/>
            <a:ext cx="523634" cy="523634"/>
          </a:xfrm>
          <a:prstGeom prst="ellipse">
            <a:avLst/>
          </a:prstGeom>
          <a:solidFill>
            <a:srgbClr val="014924"/>
          </a:solidFill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EFC783-A04F-E8CE-3270-91D9B273ED47}"/>
              </a:ext>
            </a:extLst>
          </p:cNvPr>
          <p:cNvSpPr txBox="1"/>
          <p:nvPr/>
        </p:nvSpPr>
        <p:spPr>
          <a:xfrm>
            <a:off x="6808926" y="2890984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E9D282-B09E-71D8-3DF7-6F12A0EC0A3B}"/>
              </a:ext>
            </a:extLst>
          </p:cNvPr>
          <p:cNvSpPr/>
          <p:nvPr/>
        </p:nvSpPr>
        <p:spPr>
          <a:xfrm>
            <a:off x="11232685" y="2894366"/>
            <a:ext cx="523634" cy="523634"/>
          </a:xfrm>
          <a:prstGeom prst="ellipse">
            <a:avLst/>
          </a:prstGeom>
          <a:solidFill>
            <a:srgbClr val="014924"/>
          </a:solidFill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E1FF9C-E4C9-B7E8-0701-21B8C6AA58D7}"/>
              </a:ext>
            </a:extLst>
          </p:cNvPr>
          <p:cNvSpPr txBox="1"/>
          <p:nvPr/>
        </p:nvSpPr>
        <p:spPr>
          <a:xfrm>
            <a:off x="10149199" y="2817915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3C14B9-24EC-E731-9D5D-DD3A05C48672}"/>
              </a:ext>
            </a:extLst>
          </p:cNvPr>
          <p:cNvSpPr/>
          <p:nvPr/>
        </p:nvSpPr>
        <p:spPr>
          <a:xfrm flipH="1">
            <a:off x="6040651" y="2265995"/>
            <a:ext cx="57356" cy="886149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F6885BA-3FF2-A82E-35E5-E8EF5F9652D5}"/>
              </a:ext>
            </a:extLst>
          </p:cNvPr>
          <p:cNvSpPr/>
          <p:nvPr/>
        </p:nvSpPr>
        <p:spPr>
          <a:xfrm rot="5400000" flipH="1">
            <a:off x="8201390" y="533226"/>
            <a:ext cx="57356" cy="4309930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28731C-8065-DE98-758E-F4DA70A3B100}"/>
              </a:ext>
            </a:extLst>
          </p:cNvPr>
          <p:cNvSpPr/>
          <p:nvPr/>
        </p:nvSpPr>
        <p:spPr>
          <a:xfrm rot="5400000" flipH="1">
            <a:off x="3911226" y="533225"/>
            <a:ext cx="57356" cy="4309930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4530A3-F5A5-154F-743C-1C46FB31AD0F}"/>
              </a:ext>
            </a:extLst>
          </p:cNvPr>
          <p:cNvSpPr/>
          <p:nvPr/>
        </p:nvSpPr>
        <p:spPr>
          <a:xfrm flipH="1">
            <a:off x="10330815" y="2683528"/>
            <a:ext cx="46918" cy="458178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6792CE-8C7E-F5A1-A52B-88F90B634B20}"/>
              </a:ext>
            </a:extLst>
          </p:cNvPr>
          <p:cNvSpPr/>
          <p:nvPr/>
        </p:nvSpPr>
        <p:spPr>
          <a:xfrm flipH="1">
            <a:off x="1740047" y="2662650"/>
            <a:ext cx="46918" cy="458178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77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2DE6C-A267-D3BA-8E49-63064EBA5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id="{B1E106EA-7FE2-AD27-5682-5169BAB8A31A}"/>
              </a:ext>
            </a:extLst>
          </p:cNvPr>
          <p:cNvSpPr/>
          <p:nvPr/>
        </p:nvSpPr>
        <p:spPr>
          <a:xfrm>
            <a:off x="3870701" y="3140800"/>
            <a:ext cx="4353895" cy="1341361"/>
          </a:xfrm>
          <a:prstGeom prst="round2Diag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F31FC-F29A-24C3-A4A5-258F44C188E6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Recovery main Axes</a:t>
            </a: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51E22031-3CB6-E2E9-E703-A329DDAD9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DB13A5-96C3-24BC-40DA-FA66818DD541}"/>
              </a:ext>
            </a:extLst>
          </p:cNvPr>
          <p:cNvSpPr txBox="1"/>
          <p:nvPr/>
        </p:nvSpPr>
        <p:spPr>
          <a:xfrm>
            <a:off x="399777" y="3308519"/>
            <a:ext cx="27928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Redesign the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7D339-D210-24EA-CD1F-8191F6BEC79F}"/>
              </a:ext>
            </a:extLst>
          </p:cNvPr>
          <p:cNvSpPr txBox="1"/>
          <p:nvPr/>
        </p:nvSpPr>
        <p:spPr>
          <a:xfrm>
            <a:off x="4700379" y="1659258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Recovery</a:t>
            </a:r>
            <a:endParaRPr lang="en-US">
              <a:solidFill>
                <a:srgbClr val="60F099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1BB5E6-3BAE-A7F3-6EB8-98E013A29B27}"/>
              </a:ext>
            </a:extLst>
          </p:cNvPr>
          <p:cNvSpPr/>
          <p:nvPr/>
        </p:nvSpPr>
        <p:spPr>
          <a:xfrm>
            <a:off x="4681718" y="1645450"/>
            <a:ext cx="2828643" cy="619521"/>
          </a:xfrm>
          <a:prstGeom prst="round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0137-8DE4-47C6-BD74-BD0A1DA50CD8}"/>
              </a:ext>
            </a:extLst>
          </p:cNvPr>
          <p:cNvSpPr txBox="1"/>
          <p:nvPr/>
        </p:nvSpPr>
        <p:spPr>
          <a:xfrm>
            <a:off x="399777" y="3726054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 </a:t>
            </a:r>
            <a:r>
              <a:rPr lang="en-US" sz="28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Environment</a:t>
            </a:r>
            <a:endParaRPr lang="en-US" sz="2800">
              <a:solidFill>
                <a:srgbClr val="60F099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0EF5D-C1F7-E4B6-B710-57C9044A9521}"/>
              </a:ext>
            </a:extLst>
          </p:cNvPr>
          <p:cNvSpPr txBox="1"/>
          <p:nvPr/>
        </p:nvSpPr>
        <p:spPr>
          <a:xfrm>
            <a:off x="4689941" y="3266766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Knowledge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8FE57C-88AD-21FE-4BB8-8085ADA8DC71}"/>
              </a:ext>
            </a:extLst>
          </p:cNvPr>
          <p:cNvSpPr txBox="1"/>
          <p:nvPr/>
        </p:nvSpPr>
        <p:spPr>
          <a:xfrm>
            <a:off x="3875750" y="3726052"/>
            <a:ext cx="444211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Revelation and Addiction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DAA1F6-3C6B-5AFC-1B46-8B6BEC89964C}"/>
              </a:ext>
            </a:extLst>
          </p:cNvPr>
          <p:cNvSpPr txBox="1"/>
          <p:nvPr/>
        </p:nvSpPr>
        <p:spPr>
          <a:xfrm>
            <a:off x="5410189" y="3266763"/>
            <a:ext cx="35235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:</a:t>
            </a:r>
            <a:endParaRPr lang="en-US">
              <a:solidFill>
                <a:srgbClr val="60F099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32A1F4-D4E5-9F7E-4B51-2F42EF1A123E}"/>
              </a:ext>
            </a:extLst>
          </p:cNvPr>
          <p:cNvSpPr txBox="1"/>
          <p:nvPr/>
        </p:nvSpPr>
        <p:spPr>
          <a:xfrm>
            <a:off x="8813092" y="3308519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Action</a:t>
            </a:r>
            <a:endParaRPr lang="en-US"/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FBA90D10-1002-7AB7-1C36-B62FEADC550A}"/>
              </a:ext>
            </a:extLst>
          </p:cNvPr>
          <p:cNvSpPr/>
          <p:nvPr/>
        </p:nvSpPr>
        <p:spPr>
          <a:xfrm>
            <a:off x="457361" y="3151239"/>
            <a:ext cx="2673320" cy="1330923"/>
          </a:xfrm>
          <a:prstGeom prst="round2Diag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A2765AE6-AB81-D9A3-40EB-A621FB677246}"/>
              </a:ext>
            </a:extLst>
          </p:cNvPr>
          <p:cNvSpPr/>
          <p:nvPr/>
        </p:nvSpPr>
        <p:spPr>
          <a:xfrm>
            <a:off x="8870675" y="3151239"/>
            <a:ext cx="2673320" cy="1330923"/>
          </a:xfrm>
          <a:prstGeom prst="round2Diag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4A7CA4C-8C02-F441-AD15-B6C40316897D}"/>
              </a:ext>
            </a:extLst>
          </p:cNvPr>
          <p:cNvSpPr/>
          <p:nvPr/>
        </p:nvSpPr>
        <p:spPr>
          <a:xfrm>
            <a:off x="2798495" y="2883928"/>
            <a:ext cx="523634" cy="523634"/>
          </a:xfrm>
          <a:prstGeom prst="ellipse">
            <a:avLst/>
          </a:prstGeom>
          <a:solidFill>
            <a:srgbClr val="014924"/>
          </a:solidFill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F3C881-42E4-C566-682E-2A36C43B089C}"/>
              </a:ext>
            </a:extLst>
          </p:cNvPr>
          <p:cNvSpPr txBox="1"/>
          <p:nvPr/>
        </p:nvSpPr>
        <p:spPr>
          <a:xfrm>
            <a:off x="1662816" y="284923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15B0C73-C425-D611-609B-1CFED9995BF4}"/>
              </a:ext>
            </a:extLst>
          </p:cNvPr>
          <p:cNvSpPr/>
          <p:nvPr/>
        </p:nvSpPr>
        <p:spPr>
          <a:xfrm>
            <a:off x="7944604" y="2925681"/>
            <a:ext cx="523634" cy="523634"/>
          </a:xfrm>
          <a:prstGeom prst="ellipse">
            <a:avLst/>
          </a:prstGeom>
          <a:solidFill>
            <a:srgbClr val="014924"/>
          </a:solidFill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841066-A9D1-6282-2DD1-E80ED6A952E5}"/>
              </a:ext>
            </a:extLst>
          </p:cNvPr>
          <p:cNvSpPr txBox="1"/>
          <p:nvPr/>
        </p:nvSpPr>
        <p:spPr>
          <a:xfrm>
            <a:off x="6808926" y="2890984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23865C-8012-3973-5ADD-1AC61EE6959D}"/>
              </a:ext>
            </a:extLst>
          </p:cNvPr>
          <p:cNvSpPr/>
          <p:nvPr/>
        </p:nvSpPr>
        <p:spPr>
          <a:xfrm>
            <a:off x="11232685" y="2894366"/>
            <a:ext cx="523634" cy="523634"/>
          </a:xfrm>
          <a:prstGeom prst="ellipse">
            <a:avLst/>
          </a:prstGeom>
          <a:solidFill>
            <a:srgbClr val="014924"/>
          </a:solidFill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0BCAA2-4BBB-4DD5-B9CA-3C06F2FD8051}"/>
              </a:ext>
            </a:extLst>
          </p:cNvPr>
          <p:cNvSpPr txBox="1"/>
          <p:nvPr/>
        </p:nvSpPr>
        <p:spPr>
          <a:xfrm>
            <a:off x="10149199" y="2817915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C1A9B2-1452-8F5A-6CA0-B4418911C595}"/>
              </a:ext>
            </a:extLst>
          </p:cNvPr>
          <p:cNvSpPr/>
          <p:nvPr/>
        </p:nvSpPr>
        <p:spPr>
          <a:xfrm flipH="1">
            <a:off x="6040651" y="2265995"/>
            <a:ext cx="57356" cy="886149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7DA48AC-D8AE-1792-0E92-D32395B437F0}"/>
              </a:ext>
            </a:extLst>
          </p:cNvPr>
          <p:cNvSpPr/>
          <p:nvPr/>
        </p:nvSpPr>
        <p:spPr>
          <a:xfrm rot="5400000" flipH="1">
            <a:off x="8201390" y="533226"/>
            <a:ext cx="57356" cy="4309930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486BD6-04C7-6496-D75F-B652CF991822}"/>
              </a:ext>
            </a:extLst>
          </p:cNvPr>
          <p:cNvSpPr/>
          <p:nvPr/>
        </p:nvSpPr>
        <p:spPr>
          <a:xfrm rot="5400000" flipH="1">
            <a:off x="3911226" y="533225"/>
            <a:ext cx="57356" cy="4309930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A68A0D-1C44-7221-A4C5-E49A1A82C8C0}"/>
              </a:ext>
            </a:extLst>
          </p:cNvPr>
          <p:cNvSpPr/>
          <p:nvPr/>
        </p:nvSpPr>
        <p:spPr>
          <a:xfrm flipH="1">
            <a:off x="10330815" y="2683528"/>
            <a:ext cx="46918" cy="458178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3F4A2F-EF62-BAED-30BB-B0FA23C02FEB}"/>
              </a:ext>
            </a:extLst>
          </p:cNvPr>
          <p:cNvSpPr/>
          <p:nvPr/>
        </p:nvSpPr>
        <p:spPr>
          <a:xfrm flipH="1">
            <a:off x="1740047" y="2662650"/>
            <a:ext cx="46918" cy="458178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21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5DC20-4B6F-9D9F-B158-7F090A968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id="{1F784CDB-0B3D-B015-362F-B838F9AC5F4D}"/>
              </a:ext>
            </a:extLst>
          </p:cNvPr>
          <p:cNvSpPr/>
          <p:nvPr/>
        </p:nvSpPr>
        <p:spPr>
          <a:xfrm>
            <a:off x="3870701" y="3140800"/>
            <a:ext cx="4353895" cy="1341361"/>
          </a:xfrm>
          <a:prstGeom prst="round2Diag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10E6F-A264-8AE8-3FA1-E8C71B914091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Recovery main Axes</a:t>
            </a: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10C4E90C-F3B2-134B-7734-79FEB8D4C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8094A6-9C84-9FD4-13FF-C921AECEEA96}"/>
              </a:ext>
            </a:extLst>
          </p:cNvPr>
          <p:cNvSpPr txBox="1"/>
          <p:nvPr/>
        </p:nvSpPr>
        <p:spPr>
          <a:xfrm>
            <a:off x="399777" y="3308519"/>
            <a:ext cx="27928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Redesign the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6D4059-20F2-6E56-EC49-D1C12319BD4F}"/>
              </a:ext>
            </a:extLst>
          </p:cNvPr>
          <p:cNvSpPr txBox="1"/>
          <p:nvPr/>
        </p:nvSpPr>
        <p:spPr>
          <a:xfrm>
            <a:off x="4700379" y="1659258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Recovery</a:t>
            </a:r>
            <a:endParaRPr lang="en-US">
              <a:solidFill>
                <a:srgbClr val="60F099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D3B5B8-EB9B-F4AF-F29E-992EFB1EE787}"/>
              </a:ext>
            </a:extLst>
          </p:cNvPr>
          <p:cNvSpPr/>
          <p:nvPr/>
        </p:nvSpPr>
        <p:spPr>
          <a:xfrm>
            <a:off x="4681718" y="1645450"/>
            <a:ext cx="2828643" cy="619521"/>
          </a:xfrm>
          <a:prstGeom prst="round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8EC84-5ED4-0728-DD44-F22BA227BBFD}"/>
              </a:ext>
            </a:extLst>
          </p:cNvPr>
          <p:cNvSpPr txBox="1"/>
          <p:nvPr/>
        </p:nvSpPr>
        <p:spPr>
          <a:xfrm>
            <a:off x="399777" y="3726054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 </a:t>
            </a:r>
            <a:r>
              <a:rPr lang="en-US" sz="28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Environment</a:t>
            </a:r>
            <a:endParaRPr lang="en-US" sz="2800">
              <a:solidFill>
                <a:srgbClr val="60F099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83895-5987-0505-6A2B-18EF6BAA738D}"/>
              </a:ext>
            </a:extLst>
          </p:cNvPr>
          <p:cNvSpPr txBox="1"/>
          <p:nvPr/>
        </p:nvSpPr>
        <p:spPr>
          <a:xfrm>
            <a:off x="4689941" y="3266766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Knowledge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6DC72-ECD3-DCC3-7E32-7A48E1FF77FD}"/>
              </a:ext>
            </a:extLst>
          </p:cNvPr>
          <p:cNvSpPr txBox="1"/>
          <p:nvPr/>
        </p:nvSpPr>
        <p:spPr>
          <a:xfrm>
            <a:off x="3875750" y="3726052"/>
            <a:ext cx="444211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Revelation and Addiction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175178-8213-0E70-A336-4021D90FCEF1}"/>
              </a:ext>
            </a:extLst>
          </p:cNvPr>
          <p:cNvSpPr txBox="1"/>
          <p:nvPr/>
        </p:nvSpPr>
        <p:spPr>
          <a:xfrm>
            <a:off x="5410189" y="3266763"/>
            <a:ext cx="35235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:</a:t>
            </a:r>
            <a:endParaRPr lang="en-US">
              <a:solidFill>
                <a:srgbClr val="60F099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48CEB7-7802-5A59-CEA8-3BAD81ADE99F}"/>
              </a:ext>
            </a:extLst>
          </p:cNvPr>
          <p:cNvSpPr txBox="1"/>
          <p:nvPr/>
        </p:nvSpPr>
        <p:spPr>
          <a:xfrm>
            <a:off x="8813092" y="3308519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Action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C6C03F-2B04-84EE-D58E-4F75F59F7466}"/>
              </a:ext>
            </a:extLst>
          </p:cNvPr>
          <p:cNvSpPr txBox="1"/>
          <p:nvPr/>
        </p:nvSpPr>
        <p:spPr>
          <a:xfrm>
            <a:off x="8813091" y="3726052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&amp; Reaction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6F12729A-341C-3D55-E7DD-118981C3EF79}"/>
              </a:ext>
            </a:extLst>
          </p:cNvPr>
          <p:cNvSpPr/>
          <p:nvPr/>
        </p:nvSpPr>
        <p:spPr>
          <a:xfrm>
            <a:off x="457361" y="3151239"/>
            <a:ext cx="2673320" cy="1330923"/>
          </a:xfrm>
          <a:prstGeom prst="round2Diag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2E3CDE5E-FD07-C81E-31C7-C22366F40002}"/>
              </a:ext>
            </a:extLst>
          </p:cNvPr>
          <p:cNvSpPr/>
          <p:nvPr/>
        </p:nvSpPr>
        <p:spPr>
          <a:xfrm>
            <a:off x="8870675" y="3151239"/>
            <a:ext cx="2673320" cy="1330923"/>
          </a:xfrm>
          <a:prstGeom prst="round2DiagRect">
            <a:avLst/>
          </a:prstGeom>
          <a:noFill/>
          <a:ln w="57150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99B3501-3AD6-DBED-17C8-87DE0AAEB0A4}"/>
              </a:ext>
            </a:extLst>
          </p:cNvPr>
          <p:cNvSpPr/>
          <p:nvPr/>
        </p:nvSpPr>
        <p:spPr>
          <a:xfrm>
            <a:off x="2798495" y="2883928"/>
            <a:ext cx="523634" cy="523634"/>
          </a:xfrm>
          <a:prstGeom prst="ellipse">
            <a:avLst/>
          </a:prstGeom>
          <a:solidFill>
            <a:srgbClr val="014924"/>
          </a:solidFill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E17EFB-393A-9AF0-EFDF-90AC71004BD1}"/>
              </a:ext>
            </a:extLst>
          </p:cNvPr>
          <p:cNvSpPr txBox="1"/>
          <p:nvPr/>
        </p:nvSpPr>
        <p:spPr>
          <a:xfrm>
            <a:off x="1662816" y="2849231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140DBB-9494-A532-EA8B-CA9B768398B5}"/>
              </a:ext>
            </a:extLst>
          </p:cNvPr>
          <p:cNvSpPr/>
          <p:nvPr/>
        </p:nvSpPr>
        <p:spPr>
          <a:xfrm>
            <a:off x="7944604" y="2925681"/>
            <a:ext cx="523634" cy="523634"/>
          </a:xfrm>
          <a:prstGeom prst="ellipse">
            <a:avLst/>
          </a:prstGeom>
          <a:solidFill>
            <a:srgbClr val="014924"/>
          </a:solidFill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BCE1BE-5740-EAD8-7CCE-7F30A56DDB1A}"/>
              </a:ext>
            </a:extLst>
          </p:cNvPr>
          <p:cNvSpPr txBox="1"/>
          <p:nvPr/>
        </p:nvSpPr>
        <p:spPr>
          <a:xfrm>
            <a:off x="6808926" y="2890984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DF93913-73C6-5806-33BF-32D0570ACCD0}"/>
              </a:ext>
            </a:extLst>
          </p:cNvPr>
          <p:cNvSpPr/>
          <p:nvPr/>
        </p:nvSpPr>
        <p:spPr>
          <a:xfrm>
            <a:off x="11232685" y="2894366"/>
            <a:ext cx="523634" cy="523634"/>
          </a:xfrm>
          <a:prstGeom prst="ellipse">
            <a:avLst/>
          </a:prstGeom>
          <a:solidFill>
            <a:srgbClr val="014924"/>
          </a:solidFill>
          <a:ln w="28575">
            <a:solidFill>
              <a:srgbClr val="60F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2495F7-F2EF-AD18-5CE9-457E904A252B}"/>
              </a:ext>
            </a:extLst>
          </p:cNvPr>
          <p:cNvSpPr txBox="1"/>
          <p:nvPr/>
        </p:nvSpPr>
        <p:spPr>
          <a:xfrm>
            <a:off x="10149199" y="2817915"/>
            <a:ext cx="2792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620312-169F-2534-469B-86737EDC34C6}"/>
              </a:ext>
            </a:extLst>
          </p:cNvPr>
          <p:cNvSpPr/>
          <p:nvPr/>
        </p:nvSpPr>
        <p:spPr>
          <a:xfrm flipH="1">
            <a:off x="6040651" y="2265995"/>
            <a:ext cx="57356" cy="886149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3B2AB09-4DA2-5619-5ED1-83E0B1008AD4}"/>
              </a:ext>
            </a:extLst>
          </p:cNvPr>
          <p:cNvSpPr/>
          <p:nvPr/>
        </p:nvSpPr>
        <p:spPr>
          <a:xfrm rot="5400000" flipH="1">
            <a:off x="8201390" y="533226"/>
            <a:ext cx="57356" cy="4309930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4B6FB3-BE18-2F13-BE80-C6156C5F7F96}"/>
              </a:ext>
            </a:extLst>
          </p:cNvPr>
          <p:cNvSpPr/>
          <p:nvPr/>
        </p:nvSpPr>
        <p:spPr>
          <a:xfrm rot="5400000" flipH="1">
            <a:off x="3911226" y="533225"/>
            <a:ext cx="57356" cy="4309930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F8AD3A2-4B2A-CCEB-7762-51E9DA250176}"/>
              </a:ext>
            </a:extLst>
          </p:cNvPr>
          <p:cNvSpPr/>
          <p:nvPr/>
        </p:nvSpPr>
        <p:spPr>
          <a:xfrm flipH="1">
            <a:off x="10330815" y="2683528"/>
            <a:ext cx="46918" cy="458178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3F481D-3CDE-892B-560C-0E7B3275873E}"/>
              </a:ext>
            </a:extLst>
          </p:cNvPr>
          <p:cNvSpPr/>
          <p:nvPr/>
        </p:nvSpPr>
        <p:spPr>
          <a:xfrm flipH="1">
            <a:off x="1740047" y="2662650"/>
            <a:ext cx="46918" cy="458178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10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133EF3-7625-2E2A-D2A5-B19EA06B2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88E807-AB07-82DB-12E5-5C546534FBEB}"/>
              </a:ext>
            </a:extLst>
          </p:cNvPr>
          <p:cNvSpPr txBox="1"/>
          <p:nvPr/>
        </p:nvSpPr>
        <p:spPr>
          <a:xfrm>
            <a:off x="399778" y="531917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Discussion pause</a:t>
            </a:r>
            <a:endParaRPr lang="en-US"/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DCC47CFE-F995-D34C-C3E8-3C4A34479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FC7EB1B-CAC2-D5ED-289D-204FBA79CFA2}"/>
              </a:ext>
            </a:extLst>
          </p:cNvPr>
          <p:cNvSpPr/>
          <p:nvPr/>
        </p:nvSpPr>
        <p:spPr>
          <a:xfrm>
            <a:off x="4875674" y="2095715"/>
            <a:ext cx="160235" cy="556340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B476D7-66DF-BF4C-8F09-B5DD72242E4B}"/>
              </a:ext>
            </a:extLst>
          </p:cNvPr>
          <p:cNvSpPr txBox="1"/>
          <p:nvPr/>
        </p:nvSpPr>
        <p:spPr>
          <a:xfrm>
            <a:off x="5420951" y="1908200"/>
            <a:ext cx="610181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Pause</a:t>
            </a:r>
            <a:endParaRPr lang="en-US" sz="5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BFEA7C-D1B5-D6E6-3626-BFCE6E301AD2}"/>
              </a:ext>
            </a:extLst>
          </p:cNvPr>
          <p:cNvSpPr/>
          <p:nvPr/>
        </p:nvSpPr>
        <p:spPr>
          <a:xfrm>
            <a:off x="4597647" y="2095715"/>
            <a:ext cx="160235" cy="556340"/>
          </a:xfrm>
          <a:prstGeom prst="rect">
            <a:avLst/>
          </a:prstGeom>
          <a:solidFill>
            <a:srgbClr val="60F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rrow circle with solid fill">
            <a:extLst>
              <a:ext uri="{FF2B5EF4-FFF2-40B4-BE49-F238E27FC236}">
                <a16:creationId xmlns:a16="http://schemas.microsoft.com/office/drawing/2014/main" id="{972B625E-3A1E-5431-2CF6-AE0098CF01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6112" y="2996264"/>
            <a:ext cx="1096112" cy="1102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3982C4-1983-E340-3EE1-CBC8058C7EFC}"/>
              </a:ext>
            </a:extLst>
          </p:cNvPr>
          <p:cNvSpPr txBox="1"/>
          <p:nvPr/>
        </p:nvSpPr>
        <p:spPr>
          <a:xfrm>
            <a:off x="5420951" y="3071794"/>
            <a:ext cx="610181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Process</a:t>
            </a:r>
            <a:endParaRPr lang="en-US"/>
          </a:p>
        </p:txBody>
      </p:sp>
      <p:pic>
        <p:nvPicPr>
          <p:cNvPr id="8" name="Graphic 7" descr="Chat with solid fill">
            <a:extLst>
              <a:ext uri="{FF2B5EF4-FFF2-40B4-BE49-F238E27FC236}">
                <a16:creationId xmlns:a16="http://schemas.microsoft.com/office/drawing/2014/main" id="{47867D7C-043D-88FA-0B56-081F43D71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2261" y="4236764"/>
            <a:ext cx="1146874" cy="11339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899A92-2F48-B99F-7BFB-4DB60F902521}"/>
              </a:ext>
            </a:extLst>
          </p:cNvPr>
          <p:cNvSpPr txBox="1"/>
          <p:nvPr/>
        </p:nvSpPr>
        <p:spPr>
          <a:xfrm>
            <a:off x="5420950" y="4350403"/>
            <a:ext cx="610181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Discuss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C6FFC-4C5A-EB94-6633-04C56BACD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8A61C-EE78-96C4-F4B4-AFD13EE44B87}"/>
              </a:ext>
            </a:extLst>
          </p:cNvPr>
          <p:cNvSpPr txBox="1"/>
          <p:nvPr/>
        </p:nvSpPr>
        <p:spPr>
          <a:xfrm>
            <a:off x="390132" y="300423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First Steps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692B2409-87FA-2A74-5359-9DDE09FFA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ECD094-14B1-2F3D-D0E8-DDE0705996A6}"/>
              </a:ext>
            </a:extLst>
          </p:cNvPr>
          <p:cNvSpPr txBox="1"/>
          <p:nvPr/>
        </p:nvSpPr>
        <p:spPr>
          <a:xfrm>
            <a:off x="2116689" y="2702169"/>
            <a:ext cx="7953764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8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Step Zero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BB9DC-FFB5-96FA-F85D-599597819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755D22-76B2-D666-FB95-B33D73AFA140}"/>
              </a:ext>
            </a:extLst>
          </p:cNvPr>
          <p:cNvSpPr txBox="1"/>
          <p:nvPr/>
        </p:nvSpPr>
        <p:spPr>
          <a:xfrm>
            <a:off x="390132" y="300423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First Steps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06B551C7-2609-5917-8110-27C4843B4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D952EA-EF4D-AF7E-005F-E9CD01B500B7}"/>
              </a:ext>
            </a:extLst>
          </p:cNvPr>
          <p:cNvSpPr txBox="1"/>
          <p:nvPr/>
        </p:nvSpPr>
        <p:spPr>
          <a:xfrm>
            <a:off x="1740512" y="2702169"/>
            <a:ext cx="870611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8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Take the Decision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52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6DF83-EB86-4A61-F4AE-D4EE5E98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5CE626-062F-AFF9-ABD6-18E896227CFF}"/>
              </a:ext>
            </a:extLst>
          </p:cNvPr>
          <p:cNvSpPr txBox="1"/>
          <p:nvPr/>
        </p:nvSpPr>
        <p:spPr>
          <a:xfrm>
            <a:off x="390132" y="300423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First Steps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1A7BA479-9ACD-7788-7383-BEB22AB06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F34E5E-0463-4C69-060F-8B671A88DCA5}"/>
              </a:ext>
            </a:extLst>
          </p:cNvPr>
          <p:cNvSpPr txBox="1"/>
          <p:nvPr/>
        </p:nvSpPr>
        <p:spPr>
          <a:xfrm>
            <a:off x="2116689" y="2702169"/>
            <a:ext cx="7953764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8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Step 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94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DC14C-49ED-34BB-3734-B9EDB038A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19D52D-0825-BBFB-672A-B782631928C3}"/>
              </a:ext>
            </a:extLst>
          </p:cNvPr>
          <p:cNvSpPr txBox="1"/>
          <p:nvPr/>
        </p:nvSpPr>
        <p:spPr>
          <a:xfrm>
            <a:off x="390132" y="300423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First Steps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9B6037EE-6685-569F-5AA6-28E3506B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7CF85A-FAD2-A7B0-E012-6CF61BD1DE1D}"/>
              </a:ext>
            </a:extLst>
          </p:cNvPr>
          <p:cNvSpPr txBox="1"/>
          <p:nvPr/>
        </p:nvSpPr>
        <p:spPr>
          <a:xfrm>
            <a:off x="2116689" y="2702169"/>
            <a:ext cx="7953764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8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Step One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E6E22-EB6A-2A17-E573-9AF02DAA95C3}"/>
              </a:ext>
            </a:extLst>
          </p:cNvPr>
          <p:cNvSpPr txBox="1"/>
          <p:nvPr/>
        </p:nvSpPr>
        <p:spPr>
          <a:xfrm>
            <a:off x="2116688" y="3888573"/>
            <a:ext cx="795376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(The gatekeeper)</a:t>
            </a:r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3890703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AA278-4525-0992-EF09-0FC2BC0BF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AC7FC4-3849-263E-EAB0-207BE96E33B1}"/>
              </a:ext>
            </a:extLst>
          </p:cNvPr>
          <p:cNvSpPr txBox="1"/>
          <p:nvPr/>
        </p:nvSpPr>
        <p:spPr>
          <a:xfrm>
            <a:off x="390132" y="300423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First Steps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A207FDA3-0A2A-8264-C036-CDBD4643B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771A5B-76B0-8505-3EAB-784A172D3861}"/>
              </a:ext>
            </a:extLst>
          </p:cNvPr>
          <p:cNvSpPr txBox="1"/>
          <p:nvPr/>
        </p:nvSpPr>
        <p:spPr>
          <a:xfrm>
            <a:off x="1422208" y="2277764"/>
            <a:ext cx="935237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Smartphone</a:t>
            </a:r>
            <a:r>
              <a:rPr lang="en-US" sz="7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 Elimination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523171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FA6F80-4D24-EA81-F3FD-C84C9B82C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B53CE7-35DD-77D6-966A-97771D4AD736}"/>
              </a:ext>
            </a:extLst>
          </p:cNvPr>
          <p:cNvSpPr txBox="1"/>
          <p:nvPr/>
        </p:nvSpPr>
        <p:spPr>
          <a:xfrm>
            <a:off x="390132" y="300423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First Steps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DF37F76B-272B-57CB-D94F-8069DB6B2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499264-A7F7-525C-9479-ABCCB06B7D85}"/>
              </a:ext>
            </a:extLst>
          </p:cNvPr>
          <p:cNvSpPr txBox="1"/>
          <p:nvPr/>
        </p:nvSpPr>
        <p:spPr>
          <a:xfrm>
            <a:off x="1422208" y="1442736"/>
            <a:ext cx="935237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6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Smartphone</a:t>
            </a:r>
            <a:r>
              <a:rPr lang="en-US" sz="66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 Elimination</a:t>
            </a:r>
            <a:endParaRPr lang="en-US" sz="6600"/>
          </a:p>
        </p:txBody>
      </p:sp>
      <p:pic>
        <p:nvPicPr>
          <p:cNvPr id="4" name="Graphic 3" descr="Smart Phone with solid fill">
            <a:extLst>
              <a:ext uri="{FF2B5EF4-FFF2-40B4-BE49-F238E27FC236}">
                <a16:creationId xmlns:a16="http://schemas.microsoft.com/office/drawing/2014/main" id="{B14F522D-3B09-CDCB-E39C-6EDA2B5971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1656" y="2836015"/>
            <a:ext cx="2462590" cy="25109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163FE6-A216-BC2C-9EC7-4A6F15997217}"/>
              </a:ext>
            </a:extLst>
          </p:cNvPr>
          <p:cNvSpPr txBox="1"/>
          <p:nvPr/>
        </p:nvSpPr>
        <p:spPr>
          <a:xfrm>
            <a:off x="486158" y="3303119"/>
            <a:ext cx="935237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6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=</a:t>
            </a:r>
            <a:endParaRPr lang="en-US" sz="960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5D24A9-FFC7-F034-1CC9-72919D868937}"/>
              </a:ext>
            </a:extLst>
          </p:cNvPr>
          <p:cNvSpPr txBox="1"/>
          <p:nvPr/>
        </p:nvSpPr>
        <p:spPr>
          <a:xfrm>
            <a:off x="885300" y="3303118"/>
            <a:ext cx="935237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6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=</a:t>
            </a:r>
            <a:endParaRPr lang="en-US" sz="96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145C53-7051-221A-9250-BA837ED77C6D}"/>
              </a:ext>
            </a:extLst>
          </p:cNvPr>
          <p:cNvSpPr txBox="1"/>
          <p:nvPr/>
        </p:nvSpPr>
        <p:spPr>
          <a:xfrm>
            <a:off x="3296967" y="3484546"/>
            <a:ext cx="935237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b="1">
                <a:solidFill>
                  <a:srgbClr val="FF6B4C"/>
                </a:solidFill>
                <a:latin typeface="Candara"/>
                <a:ea typeface="Calibri"/>
                <a:cs typeface="Calibri"/>
              </a:rPr>
              <a:t>Relapse</a:t>
            </a:r>
            <a:endParaRPr lang="en-US" sz="7200"/>
          </a:p>
        </p:txBody>
      </p:sp>
    </p:spTree>
    <p:extLst>
      <p:ext uri="{BB962C8B-B14F-4D97-AF65-F5344CB8AC3E}">
        <p14:creationId xmlns:p14="http://schemas.microsoft.com/office/powerpoint/2010/main" val="3690274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4DA26-A081-CD4A-294C-5EFA8779C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E115DE-171B-BF2E-76D5-B18C4C97D0D6}"/>
              </a:ext>
            </a:extLst>
          </p:cNvPr>
          <p:cNvSpPr txBox="1"/>
          <p:nvPr/>
        </p:nvSpPr>
        <p:spPr>
          <a:xfrm>
            <a:off x="390132" y="300423"/>
            <a:ext cx="61018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Candara"/>
                <a:ea typeface="Calibri"/>
                <a:cs typeface="Calibri"/>
              </a:rPr>
              <a:t>Reflection</a:t>
            </a:r>
          </a:p>
        </p:txBody>
      </p:sp>
      <p:pic>
        <p:nvPicPr>
          <p:cNvPr id="15" name="Picture 1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CE3D5B69-48D8-3372-88D2-3D5C76EA0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575" y="5657881"/>
            <a:ext cx="3670353" cy="12056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690254-706E-FC34-7EBE-58C4022A4FE3}"/>
              </a:ext>
            </a:extLst>
          </p:cNvPr>
          <p:cNvSpPr txBox="1"/>
          <p:nvPr/>
        </p:nvSpPr>
        <p:spPr>
          <a:xfrm>
            <a:off x="1422208" y="2831946"/>
            <a:ext cx="935237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b="1">
                <a:solidFill>
                  <a:srgbClr val="60F099"/>
                </a:solidFill>
                <a:latin typeface="Candara"/>
                <a:ea typeface="Calibri"/>
                <a:cs typeface="Calibri"/>
              </a:rPr>
              <a:t>Jazakum Allah Khair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1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2026-01-19T23:20:38Z</dcterms:created>
  <dcterms:modified xsi:type="dcterms:W3CDTF">2026-04-18T12:48:02Z</dcterms:modified>
</cp:coreProperties>
</file>